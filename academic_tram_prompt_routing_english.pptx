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800" b="1" i="0">
                <a:solidFill>
                  <a:srgbClr val="FFFFFF"/>
                </a:solidFill>
                <a:latin typeface="Aptos"/>
              </a:defRPr>
            </a:pPr>
            <a:r>
              <a:rPr sz="3800" b="1" i="0">
                <a:solidFill>
                  <a:srgbClr val="FFFFFF"/>
                </a:solidFill>
                <a:latin typeface="Aptos"/>
              </a:rPr>
              <a:t>Classifier-Driven Prompt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176272"/>
            <a:ext cx="96012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0" i="0">
                <a:solidFill>
                  <a:srgbClr val="CDE0EE"/>
                </a:solidFill>
                <a:latin typeface="Aptos"/>
              </a:defRPr>
            </a:pPr>
            <a:r>
              <a:rPr sz="2500" b="0" i="0">
                <a:solidFill>
                  <a:srgbClr val="CDE0EE"/>
                </a:solidFill>
                <a:latin typeface="Aptos"/>
              </a:rPr>
              <a:t>for Complex Temporal Reasoning on TRAM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768096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 i="0">
                <a:solidFill>
                  <a:srgbClr val="DFE6F0"/>
                </a:solidFill>
                <a:latin typeface="Aptos"/>
              </a:defRPr>
            </a:pPr>
            <a:r>
              <a:rPr sz="1500" b="0" i="0">
                <a:solidFill>
                  <a:srgbClr val="DFE6F0"/>
                </a:solidFill>
                <a:latin typeface="Aptos"/>
              </a:rPr>
              <a:t>Academic presentation draft based on the thesis manuscript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3566160"/>
            <a:ext cx="3520440" cy="19659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001000" y="3977639"/>
            <a:ext cx="2971799" cy="1280161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001000" y="3977639"/>
            <a:ext cx="2971799" cy="1280161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3794760"/>
            <a:ext cx="3063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IMAGE / FIGURE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4251960"/>
            <a:ext cx="2880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 i="0">
                <a:solidFill>
                  <a:srgbClr val="12223F"/>
                </a:solidFill>
                <a:latin typeface="Aptos"/>
              </a:defRPr>
            </a:pPr>
            <a:r>
              <a:rPr sz="1800" b="1" i="0">
                <a:solidFill>
                  <a:srgbClr val="12223F"/>
                </a:solidFill>
                <a:latin typeface="Aptos"/>
              </a:rPr>
              <a:t>Optional cover 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4983480"/>
            <a:ext cx="2697480" cy="18287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350" b="0" i="0">
                <a:solidFill>
                  <a:srgbClr val="374151"/>
                </a:solidFill>
                <a:latin typeface="Aptos"/>
              </a:defRPr>
            </a:pPr>
            <a:r>
              <a:rPr sz="1350" b="0" i="0">
                <a:solidFill>
                  <a:srgbClr val="374151"/>
                </a:solidFill>
                <a:latin typeface="Aptos"/>
              </a:rPr>
              <a:t>Suggested: a clean screenshot or icon montage representing temporal reasoning, routing, and benchmark evaluation.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99632"/>
            <a:ext cx="896112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0" i="1">
                <a:solidFill>
                  <a:srgbClr val="B4C6D8"/>
                </a:solidFill>
                <a:latin typeface="Aptos"/>
              </a:defRPr>
            </a:pPr>
            <a:r>
              <a:rPr sz="950" b="0" i="1">
                <a:solidFill>
                  <a:srgbClr val="B4C6D8"/>
                </a:solidFill>
                <a:latin typeface="Aptos"/>
              </a:rPr>
              <a:t>Note: all image placeholders are intentionally left empty for manual screenshot insertion.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RESEARCH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Motivation: Temporal Reasoning Is Not a Single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5897880" cy="3566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850" b="0">
                <a:solidFill>
                  <a:srgbClr val="374151"/>
                </a:solidFill>
                <a:latin typeface="Aptos"/>
              </a:defRPr>
            </a:pPr>
            <a:r>
              <a:t>• Real-world temporal QA combines language understanding with stable symbolic operations.</a:t>
            </a:r>
          </a:p>
          <a:p>
            <a:pPr>
              <a:spcAft>
                <a:spcPts val="700"/>
              </a:spcAft>
              <a:defRPr sz="1850" b="0">
                <a:solidFill>
                  <a:srgbClr val="374151"/>
                </a:solidFill>
                <a:latin typeface="Aptos"/>
              </a:defRPr>
            </a:pPr>
            <a:r>
              <a:t>• TRAM covers heterogeneous phenomena such as ordering, arithmetic, duration, frequency, and time-zone conversion.</a:t>
            </a:r>
          </a:p>
          <a:p>
            <a:pPr>
              <a:spcAft>
                <a:spcPts val="700"/>
              </a:spcAft>
              <a:defRPr sz="1850" b="0">
                <a:solidFill>
                  <a:srgbClr val="374151"/>
                </a:solidFill>
                <a:latin typeface="Aptos"/>
              </a:defRPr>
            </a:pPr>
            <a:r>
              <a:t>• A single universal prompt is unlikely to be equally effective across all temporal subskills.</a:t>
            </a:r>
          </a:p>
          <a:p>
            <a:pPr>
              <a:spcAft>
                <a:spcPts val="700"/>
              </a:spcAft>
              <a:defRPr sz="1850" b="0">
                <a:solidFill>
                  <a:srgbClr val="374151"/>
                </a:solidFill>
                <a:latin typeface="Aptos"/>
              </a:defRPr>
            </a:pPr>
            <a:r>
              <a:t>• The central question: can a lightweight external router improve end-to-end accuracy without retraining the LLM?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0368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413248"/>
            <a:ext cx="1682496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 i="0">
                <a:solidFill>
                  <a:srgbClr val="2B8C8B"/>
                </a:solidFill>
                <a:latin typeface="Aptos"/>
              </a:defRPr>
            </a:pPr>
            <a:r>
              <a:rPr sz="2800" b="1" i="0">
                <a:solidFill>
                  <a:srgbClr val="2B8C8B"/>
                </a:solidFill>
                <a:latin typeface="Aptos"/>
              </a:rPr>
              <a:t>1,600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6007607"/>
            <a:ext cx="1682496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Workflow outputs evaluated under v1.1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523036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5413248"/>
            <a:ext cx="1499616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 i="0">
                <a:solidFill>
                  <a:srgbClr val="275388"/>
                </a:solidFill>
                <a:latin typeface="Aptos"/>
              </a:defRPr>
            </a:pPr>
            <a:r>
              <a:rPr sz="2800" b="1" i="0">
                <a:solidFill>
                  <a:srgbClr val="275388"/>
                </a:solidFill>
                <a:latin typeface="Aptos"/>
              </a:rP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007607"/>
            <a:ext cx="1499616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Frozen evaluation slice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5230368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072" y="5413248"/>
            <a:ext cx="1499616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 i="0">
                <a:solidFill>
                  <a:srgbClr val="CA9B3C"/>
                </a:solidFill>
                <a:latin typeface="Aptos"/>
              </a:defRPr>
            </a:pPr>
            <a:r>
              <a:rPr sz="2800" b="1" i="0">
                <a:solidFill>
                  <a:srgbClr val="CA9B3C"/>
                </a:solidFill>
                <a:latin typeface="Aptos"/>
              </a:rPr>
              <a:t>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6007607"/>
            <a:ext cx="1499616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LLM calls per query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463040"/>
            <a:ext cx="3886200" cy="45262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635240" y="1874520"/>
            <a:ext cx="3337560" cy="384048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635240" y="1874520"/>
            <a:ext cx="3337560" cy="384048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89520" y="1691640"/>
            <a:ext cx="3429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IMAGE / FIGURE PLACEHOLDER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148840"/>
            <a:ext cx="3246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 i="0">
                <a:solidFill>
                  <a:srgbClr val="12223F"/>
                </a:solidFill>
                <a:latin typeface="Aptos"/>
              </a:defRPr>
            </a:pPr>
            <a:r>
              <a:rPr sz="1800" b="1" i="0">
                <a:solidFill>
                  <a:srgbClr val="12223F"/>
                </a:solidFill>
                <a:latin typeface="Aptos"/>
              </a:rPr>
              <a:t>Benchmark heterogeneity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880360"/>
            <a:ext cx="3063240" cy="2743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350" b="0" i="0">
                <a:solidFill>
                  <a:srgbClr val="374151"/>
                </a:solidFill>
                <a:latin typeface="Aptos"/>
              </a:defRPr>
            </a:pPr>
            <a:r>
              <a:rPr sz="1350" b="0" i="0">
                <a:solidFill>
                  <a:srgbClr val="374151"/>
                </a:solidFill>
                <a:latin typeface="Aptos"/>
              </a:rPr>
              <a:t>Suggested: screenshot or schematic showing several TRAM subtask types, such as date computation, year shift, and time-zone conversion.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Research Question and Thesis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2286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 i="0">
                <a:solidFill>
                  <a:srgbClr val="2B8C8B"/>
                </a:solidFill>
                <a:latin typeface="Aptos"/>
              </a:defRPr>
            </a:pPr>
            <a:r>
              <a:rPr sz="1500" b="1" i="0">
                <a:solidFill>
                  <a:srgbClr val="2B8C8B"/>
                </a:solidFill>
                <a:latin typeface="Aptos"/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617220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 i="0">
                <a:solidFill>
                  <a:srgbClr val="12223F"/>
                </a:solidFill>
                <a:latin typeface="Aptos"/>
              </a:defRPr>
            </a:pPr>
            <a:r>
              <a:rPr sz="2200" b="1" i="0">
                <a:solidFill>
                  <a:srgbClr val="12223F"/>
                </a:solidFill>
                <a:latin typeface="Aptos"/>
              </a:rPr>
              <a:t>Can a lightweight classifier identify the temporal reasoning type, route the question to a category-specific prompt, and use fallback on low-confidence cases to improve final QA accuracy?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20116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 i="0">
                <a:solidFill>
                  <a:srgbClr val="2B8C8B"/>
                </a:solidFill>
                <a:latin typeface="Aptos"/>
              </a:defRPr>
            </a:pPr>
            <a:r>
              <a:rPr sz="1500" b="1" i="0">
                <a:solidFill>
                  <a:srgbClr val="2B8C8B"/>
                </a:solidFill>
                <a:latin typeface="Aptos"/>
              </a:rPr>
              <a:t>Thesis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67328"/>
            <a:ext cx="6080760" cy="1600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50" b="0">
                <a:solidFill>
                  <a:srgbClr val="374151"/>
                </a:solidFill>
                <a:latin typeface="Aptos"/>
              </a:defRPr>
            </a:pPr>
            <a:r>
              <a:t>• Routing is useful because temporal tasks are structurally heterogeneous.</a:t>
            </a:r>
          </a:p>
          <a:p>
            <a:pPr>
              <a:spcAft>
                <a:spcPts val="700"/>
              </a:spcAft>
              <a:defRPr sz="1750" b="0">
                <a:solidFill>
                  <a:srgbClr val="374151"/>
                </a:solidFill>
                <a:latin typeface="Aptos"/>
              </a:defRPr>
            </a:pPr>
            <a:r>
              <a:t>• Fallback is useful because classifier confidence can act as a risk signal.</a:t>
            </a:r>
          </a:p>
          <a:p>
            <a:pPr>
              <a:spcAft>
                <a:spcPts val="700"/>
              </a:spcAft>
              <a:defRPr sz="1750" b="0">
                <a:solidFill>
                  <a:srgbClr val="374151"/>
                </a:solidFill>
                <a:latin typeface="Aptos"/>
              </a:defRPr>
            </a:pPr>
            <a:r>
              <a:t>• Evaluation normalization is necessary to separate genuine reasoning errors from answer-format artifacts.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572768"/>
            <a:ext cx="3657600" cy="42976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726680" y="1984248"/>
            <a:ext cx="3108960" cy="361188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726680" y="1984248"/>
            <a:ext cx="3108960" cy="361188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80960" y="1801368"/>
            <a:ext cx="3200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IMAGE / FIGURE PLACEHOLDER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258568"/>
            <a:ext cx="3017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 i="0">
                <a:solidFill>
                  <a:srgbClr val="12223F"/>
                </a:solidFill>
                <a:latin typeface="Aptos"/>
              </a:defRPr>
            </a:pPr>
            <a:r>
              <a:rPr sz="1800" b="1" i="0">
                <a:solidFill>
                  <a:srgbClr val="12223F"/>
                </a:solidFill>
                <a:latin typeface="Aptos"/>
              </a:rPr>
              <a:t>Conceptual framing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990088"/>
            <a:ext cx="2834640" cy="2514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350" b="0" i="0">
                <a:solidFill>
                  <a:srgbClr val="374151"/>
                </a:solidFill>
                <a:latin typeface="Aptos"/>
              </a:defRPr>
            </a:pPr>
            <a:r>
              <a:rPr sz="1350" b="0" i="0">
                <a:solidFill>
                  <a:srgbClr val="374151"/>
                </a:solidFill>
                <a:latin typeface="Aptos"/>
              </a:rPr>
              <a:t>Suggested: a three-part visual: question type recognition, prompt routing, and fallback risk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81912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 i="0">
                <a:solidFill>
                  <a:srgbClr val="12223F"/>
                </a:solidFill>
                <a:latin typeface="Aptos"/>
              </a:defRPr>
            </a:pPr>
            <a:r>
              <a:rPr sz="1700" b="1" i="0">
                <a:solidFill>
                  <a:srgbClr val="12223F"/>
                </a:solidFill>
                <a:latin typeface="Aptos"/>
              </a:rPr>
              <a:t>1. Classifier-driven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581912"/>
            <a:ext cx="6629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50" b="0" i="0">
                <a:solidFill>
                  <a:srgbClr val="374151"/>
                </a:solidFill>
                <a:latin typeface="Aptos"/>
              </a:defRPr>
            </a:pPr>
            <a:r>
              <a:rPr sz="1550" b="0" i="0">
                <a:solidFill>
                  <a:srgbClr val="374151"/>
                </a:solidFill>
                <a:latin typeface="Aptos"/>
              </a:rPr>
              <a:t>A TF-IDF + Logistic Regression classifier predicts task type probabilities and routes each query to a category-specific prompt.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417320"/>
            <a:ext cx="109728" cy="1005840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78892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53512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 i="0">
                <a:solidFill>
                  <a:srgbClr val="12223F"/>
                </a:solidFill>
                <a:latin typeface="Aptos"/>
              </a:defRPr>
            </a:pPr>
            <a:r>
              <a:rPr sz="1700" b="1" i="0">
                <a:solidFill>
                  <a:srgbClr val="12223F"/>
                </a:solidFill>
                <a:latin typeface="Aptos"/>
              </a:rPr>
              <a:t>2. Auditable evaluation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953512"/>
            <a:ext cx="6629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50" b="0" i="0">
                <a:solidFill>
                  <a:srgbClr val="374151"/>
                </a:solidFill>
                <a:latin typeface="Aptos"/>
              </a:defRPr>
            </a:pPr>
            <a:r>
              <a:rPr sz="1550" b="0" i="0">
                <a:solidFill>
                  <a:srgbClr val="374151"/>
                </a:solidFill>
                <a:latin typeface="Aptos"/>
              </a:rPr>
              <a:t>ruleset v1.1 performs category-sensitive equivalence normalization at scoring time while leaving original gold answers unchanged.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788920"/>
            <a:ext cx="109728" cy="1005840"/>
          </a:xfrm>
          <a:prstGeom prst="rect">
            <a:avLst/>
          </a:prstGeom>
          <a:solidFill>
            <a:srgbClr val="27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16052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25112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 i="0">
                <a:solidFill>
                  <a:srgbClr val="12223F"/>
                </a:solidFill>
                <a:latin typeface="Aptos"/>
              </a:defRPr>
            </a:pPr>
            <a:r>
              <a:rPr sz="1700" b="1" i="0">
                <a:solidFill>
                  <a:srgbClr val="12223F"/>
                </a:solidFill>
                <a:latin typeface="Aptos"/>
              </a:rPr>
              <a:t>3. Corrected error-surface diagnosis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325112"/>
            <a:ext cx="6629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50" b="0" i="0">
                <a:solidFill>
                  <a:srgbClr val="374151"/>
                </a:solidFill>
                <a:latin typeface="Aptos"/>
              </a:defRPr>
            </a:pPr>
            <a:r>
              <a:rPr sz="1550" b="0" i="0">
                <a:solidFill>
                  <a:srgbClr val="374151"/>
                </a:solidFill>
                <a:latin typeface="Aptos"/>
              </a:rPr>
              <a:t>The analysis identifies the remaining post-normalization bottlenecks: Date Computation, Time Zone Conversion, and Hour24.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160520"/>
            <a:ext cx="109728" cy="1005840"/>
          </a:xfrm>
          <a:prstGeom prst="rect">
            <a:avLst/>
          </a:prstGeom>
          <a:solidFill>
            <a:srgbClr val="CA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49640" y="5504688"/>
            <a:ext cx="2514600" cy="53035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5577840"/>
            <a:ext cx="2368296" cy="45719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819" b="1" i="0">
                <a:solidFill>
                  <a:srgbClr val="12223F"/>
                </a:solidFill>
                <a:latin typeface="Aptos"/>
              </a:defRPr>
            </a:pPr>
            <a:r>
              <a:rPr sz="819" b="1" i="0">
                <a:solidFill>
                  <a:srgbClr val="12223F"/>
                </a:solidFill>
                <a:latin typeface="Aptos"/>
              </a:rPr>
              <a:t>IMAGE PLACEHOLDER: Optional icon strip — small icons for classifier, normalization, and error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System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3200400"/>
            <a:ext cx="777240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3200400"/>
            <a:ext cx="731520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29400" y="3200400"/>
            <a:ext cx="731520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15400" y="3200400"/>
            <a:ext cx="731520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2880360"/>
            <a:ext cx="1417320" cy="658368"/>
          </a:xfrm>
          <a:prstGeom prst="roundRect">
            <a:avLst/>
          </a:prstGeom>
          <a:solidFill>
            <a:srgbClr val="E5EEF7"/>
          </a:solidFill>
          <a:ln w="12700">
            <a:solidFill>
              <a:srgbClr val="BE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008376"/>
            <a:ext cx="127101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250" b="1" i="0">
                <a:solidFill>
                  <a:srgbClr val="12223F"/>
                </a:solidFill>
                <a:latin typeface="Aptos"/>
              </a:defRPr>
            </a:pPr>
            <a:r>
              <a:rPr sz="1250" b="1" i="0">
                <a:solidFill>
                  <a:srgbClr val="12223F"/>
                </a:solidFill>
                <a:latin typeface="Aptos"/>
              </a:rPr>
              <a:t>Input</a:t>
            </a:r>
            <a:br/>
            <a:r>
              <a:rPr sz="1250" b="1" i="0">
                <a:solidFill>
                  <a:srgbClr val="12223F"/>
                </a:solidFill>
                <a:latin typeface="Aptos"/>
              </a:rPr>
              <a:t>question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880360"/>
            <a:ext cx="1417320" cy="658368"/>
          </a:xfrm>
          <a:prstGeom prst="roundRect">
            <a:avLst/>
          </a:prstGeom>
          <a:solidFill>
            <a:srgbClr val="E5EEF7"/>
          </a:solidFill>
          <a:ln w="12700">
            <a:solidFill>
              <a:srgbClr val="BE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3008376"/>
            <a:ext cx="127101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250" b="1" i="0">
                <a:solidFill>
                  <a:srgbClr val="12223F"/>
                </a:solidFill>
                <a:latin typeface="Aptos"/>
              </a:defRPr>
            </a:pPr>
            <a:r>
              <a:rPr sz="1250" b="1" i="0">
                <a:solidFill>
                  <a:srgbClr val="12223F"/>
                </a:solidFill>
                <a:latin typeface="Aptos"/>
              </a:rPr>
              <a:t>TF-IDF</a:t>
            </a:r>
            <a:br/>
            <a:r>
              <a:rPr sz="1250" b="1" i="0">
                <a:solidFill>
                  <a:srgbClr val="12223F"/>
                </a:solidFill>
                <a:latin typeface="Aptos"/>
              </a:rPr>
              <a:t>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880360"/>
            <a:ext cx="1508760" cy="658368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BE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3008376"/>
            <a:ext cx="136245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250" b="1" i="0">
                <a:solidFill>
                  <a:srgbClr val="12223F"/>
                </a:solidFill>
                <a:latin typeface="Aptos"/>
              </a:defRPr>
            </a:pPr>
            <a:r>
              <a:rPr sz="1250" b="1" i="0">
                <a:solidFill>
                  <a:srgbClr val="12223F"/>
                </a:solidFill>
                <a:latin typeface="Aptos"/>
              </a:rPr>
              <a:t>Logistic</a:t>
            </a:r>
            <a:br/>
            <a:r>
              <a:rPr sz="1250" b="1" i="0">
                <a:solidFill>
                  <a:srgbClr val="12223F"/>
                </a:solidFill>
                <a:latin typeface="Aptos"/>
              </a:rPr>
              <a:t>classifier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2880360"/>
            <a:ext cx="1554480" cy="658368"/>
          </a:xfrm>
          <a:prstGeom prst="roundRect">
            <a:avLst/>
          </a:prstGeom>
          <a:solidFill>
            <a:srgbClr val="FEF6E1"/>
          </a:solidFill>
          <a:ln w="12700">
            <a:solidFill>
              <a:srgbClr val="BE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2" y="3008376"/>
            <a:ext cx="140817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250" b="1" i="0">
                <a:solidFill>
                  <a:srgbClr val="12223F"/>
                </a:solidFill>
                <a:latin typeface="Aptos"/>
              </a:defRPr>
            </a:pPr>
            <a:r>
              <a:rPr sz="1250" b="1" i="0">
                <a:solidFill>
                  <a:srgbClr val="12223F"/>
                </a:solidFill>
                <a:latin typeface="Aptos"/>
              </a:rPr>
              <a:t>Prompt</a:t>
            </a:r>
            <a:br/>
            <a:r>
              <a:rPr sz="1250" b="1" i="0">
                <a:solidFill>
                  <a:srgbClr val="12223F"/>
                </a:solidFill>
                <a:latin typeface="Aptos"/>
              </a:rPr>
              <a:t>router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2880360"/>
            <a:ext cx="1417320" cy="658368"/>
          </a:xfrm>
          <a:prstGeom prst="roundRect">
            <a:avLst/>
          </a:prstGeom>
          <a:solidFill>
            <a:srgbClr val="E5EEF7"/>
          </a:solidFill>
          <a:ln w="12700">
            <a:solidFill>
              <a:srgbClr val="BE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3008376"/>
            <a:ext cx="127101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250" b="1" i="0">
                <a:solidFill>
                  <a:srgbClr val="12223F"/>
                </a:solidFill>
                <a:latin typeface="Aptos"/>
              </a:defRPr>
            </a:pPr>
            <a:r>
              <a:rPr sz="1250" b="1" i="0">
                <a:solidFill>
                  <a:srgbClr val="12223F"/>
                </a:solidFill>
                <a:latin typeface="Aptos"/>
              </a:rPr>
              <a:t>LLM</a:t>
            </a:r>
            <a:br/>
            <a:r>
              <a:rPr sz="1250" b="1" i="0">
                <a:solidFill>
                  <a:srgbClr val="12223F"/>
                </a:solidFill>
                <a:latin typeface="Aptos"/>
              </a:rPr>
              <a:t>answer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25312" y="3520440"/>
            <a:ext cx="0" cy="64008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25312" y="4480560"/>
            <a:ext cx="2121408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74920" y="4187952"/>
            <a:ext cx="1874519" cy="640080"/>
          </a:xfrm>
          <a:prstGeom prst="roundRect">
            <a:avLst/>
          </a:prstGeom>
          <a:solidFill>
            <a:srgbClr val="F8ECEC"/>
          </a:solidFill>
          <a:ln w="12700">
            <a:solidFill>
              <a:srgbClr val="A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48072" y="4315968"/>
            <a:ext cx="1728216" cy="45719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150" b="1" i="0">
                <a:solidFill>
                  <a:srgbClr val="A63636"/>
                </a:solidFill>
                <a:latin typeface="Aptos"/>
              </a:defRPr>
            </a:pPr>
            <a:r>
              <a:rPr sz="1150" b="1" i="0">
                <a:solidFill>
                  <a:srgbClr val="A63636"/>
                </a:solidFill>
                <a:latin typeface="Aptos"/>
              </a:rPr>
              <a:t>Low confidence?</a:t>
            </a:r>
            <a:br/>
            <a:r>
              <a:rPr sz="1150" b="1" i="0">
                <a:solidFill>
                  <a:srgbClr val="A63636"/>
                </a:solidFill>
                <a:latin typeface="Aptos"/>
              </a:rPr>
              <a:t>use fallback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1417320"/>
            <a:ext cx="521208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The router does not modify LLM parameters.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Confidence is defined as the maximum predicted class probability.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Fallback targets risk control rather than additional inference calls.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307592"/>
            <a:ext cx="4434840" cy="1143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1380744"/>
            <a:ext cx="4288536" cy="10698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880" b="1" i="0">
                <a:solidFill>
                  <a:srgbClr val="12223F"/>
                </a:solidFill>
                <a:latin typeface="Aptos"/>
              </a:defRPr>
            </a:pPr>
            <a:r>
              <a:rPr sz="880" b="1" i="0">
                <a:solidFill>
                  <a:srgbClr val="12223F"/>
                </a:solidFill>
                <a:latin typeface="Aptos"/>
              </a:rPr>
              <a:t>IMAGE PLACEHOLDER: Optional pipeline screenshot — replace with your implementation diagram or workflow screenshot.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Evaluation Protocol: ruleset v1.1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53312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 i="0">
                <a:solidFill>
                  <a:srgbClr val="2B8C8B"/>
                </a:solidFill>
                <a:latin typeface="Aptos"/>
              </a:defRPr>
            </a:pPr>
            <a:r>
              <a:rPr sz="1400" b="1" i="0">
                <a:solidFill>
                  <a:srgbClr val="2B8C8B"/>
                </a:solidFill>
                <a:latin typeface="Aptos"/>
              </a:rPr>
              <a:t>Key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00784"/>
            <a:ext cx="612648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300" b="1" i="0">
                <a:solidFill>
                  <a:srgbClr val="12223F"/>
                </a:solidFill>
                <a:latin typeface="Aptos"/>
              </a:defRPr>
            </a:pPr>
            <a:r>
              <a:rPr sz="2300" b="1" i="0">
                <a:solidFill>
                  <a:srgbClr val="12223F"/>
                </a:solidFill>
                <a:latin typeface="Aptos"/>
              </a:rPr>
              <a:t>Normalize equivalent answer formats only at scoring time; do not rewrite the original gold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5897880" cy="1508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The corrected metric is the formal reporting standard.</a:t>
            </a:r>
          </a:p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Base accuracy remains useful for audit, not for final ranking.</a:t>
            </a:r>
          </a:p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Corrected gains should be interpreted as measurement correction, not as a new model improvement.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754880"/>
            <a:ext cx="2194560" cy="685800"/>
          </a:xfrm>
          <a:prstGeom prst="roundRect">
            <a:avLst/>
          </a:prstGeom>
          <a:solidFill>
            <a:srgbClr val="F8ECEC"/>
          </a:solidFill>
          <a:ln w="12700">
            <a:solidFill>
              <a:srgbClr val="A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882896"/>
            <a:ext cx="2048255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350" b="1" i="0">
                <a:solidFill>
                  <a:srgbClr val="A63636"/>
                </a:solidFill>
                <a:latin typeface="Aptos"/>
              </a:defRPr>
            </a:pPr>
            <a:r>
              <a:rPr sz="1350" b="1" i="0">
                <a:solidFill>
                  <a:srgbClr val="A63636"/>
                </a:solidFill>
                <a:latin typeface="Aptos"/>
              </a:rPr>
              <a:t>Base scorer</a:t>
            </a:r>
            <a:br/>
            <a:r>
              <a:rPr sz="1350" b="1" i="0">
                <a:solidFill>
                  <a:srgbClr val="A63636"/>
                </a:solidFill>
                <a:latin typeface="Aptos"/>
              </a:rPr>
              <a:t>strict string match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0" y="5102352"/>
            <a:ext cx="822960" cy="0"/>
          </a:xfrm>
          <a:prstGeom prst="line">
            <a:avLst/>
          </a:prstGeom>
          <a:ln w="1905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51960" y="4754880"/>
            <a:ext cx="2743200" cy="68580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2B8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4882896"/>
            <a:ext cx="2596896" cy="5029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350" b="1" i="0">
                <a:solidFill>
                  <a:srgbClr val="2B8C8B"/>
                </a:solidFill>
                <a:latin typeface="Aptos"/>
              </a:defRPr>
            </a:pPr>
            <a:r>
              <a:rPr sz="1350" b="1" i="0">
                <a:solidFill>
                  <a:srgbClr val="2B8C8B"/>
                </a:solidFill>
                <a:latin typeface="Aptos"/>
              </a:rPr>
              <a:t>ruleset v1.1</a:t>
            </a:r>
            <a:br/>
            <a:r>
              <a:rPr sz="1350" b="1" i="0">
                <a:solidFill>
                  <a:srgbClr val="2B8C8B"/>
                </a:solidFill>
                <a:latin typeface="Aptos"/>
              </a:rPr>
              <a:t>category-aware normalization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444752"/>
            <a:ext cx="3657600" cy="43891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726680" y="1856232"/>
            <a:ext cx="3108960" cy="370332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726680" y="1856232"/>
            <a:ext cx="3108960" cy="370332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80960" y="1673352"/>
            <a:ext cx="32004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IMAGE / FIGURE PLACEHOLDER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130552"/>
            <a:ext cx="3017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 i="0">
                <a:solidFill>
                  <a:srgbClr val="12223F"/>
                </a:solidFill>
                <a:latin typeface="Aptos"/>
              </a:defRPr>
            </a:pPr>
            <a:r>
              <a:rPr sz="1800" b="1" i="0">
                <a:solidFill>
                  <a:srgbClr val="12223F"/>
                </a:solidFill>
                <a:latin typeface="Aptos"/>
              </a:rPr>
              <a:t>Normalization 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862072"/>
            <a:ext cx="2834640" cy="260603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350" b="0" i="0">
                <a:solidFill>
                  <a:srgbClr val="374151"/>
                </a:solidFill>
                <a:latin typeface="Aptos"/>
              </a:defRPr>
            </a:pPr>
            <a:r>
              <a:rPr sz="1350" b="0" i="0">
                <a:solidFill>
                  <a:srgbClr val="374151"/>
                </a:solidFill>
                <a:latin typeface="Aptos"/>
              </a:rPr>
              <a:t>Suggested: screenshot of representative Date, TZ, and Month Shift equivalence cases before and after ruleset v1.1.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Main Results: Corrected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19"/>
            <a:ext cx="52120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 i="0">
                <a:solidFill>
                  <a:srgbClr val="12223F"/>
                </a:solidFill>
                <a:latin typeface="Aptos"/>
              </a:defRPr>
            </a:pPr>
            <a:r>
              <a:rPr sz="1200" b="1" i="0">
                <a:solidFill>
                  <a:srgbClr val="12223F"/>
                </a:solidFill>
                <a:latin typeface="Aptos"/>
              </a:rPr>
              <a:t>Corrected accuracy by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08760"/>
            <a:ext cx="52120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29384"/>
            <a:ext cx="121615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Fixed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984248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94560" y="1984248"/>
            <a:ext cx="2914231" cy="155448"/>
          </a:xfrm>
          <a:prstGeom prst="round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1943" y="192938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0.7575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92324"/>
            <a:ext cx="121615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CoT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647188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4560" y="2647188"/>
            <a:ext cx="2962321" cy="155448"/>
          </a:xfrm>
          <a:prstGeom prst="round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033" y="259232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0.7700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255264"/>
            <a:ext cx="121615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Router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310128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94560" y="3310128"/>
            <a:ext cx="2914231" cy="155448"/>
          </a:xfrm>
          <a:prstGeom prst="round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1943" y="325526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0.7575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918204"/>
            <a:ext cx="121615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Router + FB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3973068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4560" y="3973068"/>
            <a:ext cx="2981557" cy="155448"/>
          </a:xfrm>
          <a:prstGeom prst="round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49269" y="3918204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0.7750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55448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1737360"/>
            <a:ext cx="1773936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 i="0">
                <a:solidFill>
                  <a:srgbClr val="2B8C8B"/>
                </a:solidFill>
                <a:latin typeface="Aptos"/>
              </a:defRPr>
            </a:pPr>
            <a:r>
              <a:rPr sz="2800" b="1" i="0">
                <a:solidFill>
                  <a:srgbClr val="2B8C8B"/>
                </a:solidFill>
                <a:latin typeface="Aptos"/>
              </a:rPr>
              <a:t>0.7750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2331720"/>
            <a:ext cx="1773936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Strongest observed workflow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155448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5672" y="1737360"/>
            <a:ext cx="1773936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 i="0">
                <a:solidFill>
                  <a:srgbClr val="275388"/>
                </a:solidFill>
                <a:latin typeface="Aptos"/>
              </a:defRPr>
            </a:pPr>
            <a:r>
              <a:rPr sz="2800" b="1" i="0">
                <a:solidFill>
                  <a:srgbClr val="275388"/>
                </a:solidFill>
                <a:latin typeface="Aptos"/>
              </a:rPr>
              <a:t>+0.0175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2331720"/>
            <a:ext cx="1773936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Gain over Router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297180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1" y="3154680"/>
            <a:ext cx="1773936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 i="0">
                <a:solidFill>
                  <a:srgbClr val="CA9B3C"/>
                </a:solidFill>
                <a:latin typeface="Aptos"/>
              </a:defRPr>
            </a:pPr>
            <a:r>
              <a:rPr sz="2800" b="1" i="0">
                <a:solidFill>
                  <a:srgbClr val="CA9B3C"/>
                </a:solidFill>
                <a:latin typeface="Aptos"/>
              </a:rPr>
              <a:t>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1" y="3749039"/>
            <a:ext cx="1773936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Calls per query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1080" y="2971800"/>
            <a:ext cx="2103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05672" y="3154680"/>
            <a:ext cx="1773936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 i="0">
                <a:solidFill>
                  <a:srgbClr val="CA9B3C"/>
                </a:solidFill>
                <a:latin typeface="Aptos"/>
              </a:defRPr>
            </a:pPr>
            <a:r>
              <a:rPr sz="2800" b="1" i="0">
                <a:solidFill>
                  <a:srgbClr val="CA9B3C"/>
                </a:solidFill>
                <a:latin typeface="Aptos"/>
              </a:rPr>
              <a:t>5.25-5.37s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5672" y="3749039"/>
            <a:ext cx="1773936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Latency range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047488"/>
            <a:ext cx="77724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Router + Fallback is the strongest observed workflow under the corrected metric.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The improvement does not come from increasing external LLM calls.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CoT remains a strong baseline, but it does not dominate the routed workflow.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15400" y="5074920"/>
            <a:ext cx="2103120" cy="65836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88552" y="5148072"/>
            <a:ext cx="1956815" cy="58521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880" b="1" i="0">
                <a:solidFill>
                  <a:srgbClr val="12223F"/>
                </a:solidFill>
                <a:latin typeface="Aptos"/>
              </a:defRPr>
            </a:pPr>
            <a:r>
              <a:rPr sz="880" b="1" i="0">
                <a:solidFill>
                  <a:srgbClr val="12223F"/>
                </a:solidFill>
                <a:latin typeface="Aptos"/>
              </a:rPr>
              <a:t>IMAGE PLACEHOLDER: Optional result table — insert screenshot of Table 2 if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RESULTS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Base vs Corrected: What Changed?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44752"/>
          <a:ext cx="598931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229"/>
                <a:gridCol w="1187072"/>
                <a:gridCol w="1456861"/>
                <a:gridCol w="1079156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Aptos"/>
                        </a:rPr>
                        <a:t>Workflow</a:t>
                      </a: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Aptos"/>
                        </a:rPr>
                        <a:t>Base</a:t>
                      </a: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Aptos"/>
                        </a:rPr>
                        <a:t>Corrected</a:t>
                      </a: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20" b="1">
                          <a:solidFill>
                            <a:srgbClr val="FFFFFF"/>
                          </a:solidFill>
                          <a:latin typeface="Aptos"/>
                        </a:rPr>
                        <a:t>Delta</a:t>
                      </a: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Fixed Prompt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0.6300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0.7575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+0.1275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CoT Prompt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0.6200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0.7700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+0.1500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Classifier Router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0.6075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0.7575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+0.1500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Router + Fallback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0.6250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0.7750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1120" b="0">
                          <a:solidFill>
                            <a:srgbClr val="374151"/>
                          </a:solidFill>
                          <a:latin typeface="Aptos"/>
                        </a:rPr>
                        <a:t>+0.1500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1554480"/>
            <a:ext cx="32004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 i="0">
                <a:solidFill>
                  <a:srgbClr val="2B8C8B"/>
                </a:solidFill>
                <a:latin typeface="Aptos"/>
              </a:defRPr>
            </a:pPr>
            <a:r>
              <a:rPr sz="1400" b="1" i="0">
                <a:solidFill>
                  <a:srgbClr val="2B8C8B"/>
                </a:solidFill>
                <a:latin typeface="Aptos"/>
              </a:rPr>
              <a:t>Interpretive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703320"/>
            <a:ext cx="3429000" cy="1508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374151"/>
                </a:solidFill>
                <a:latin typeface="Aptos"/>
              </a:defRPr>
            </a:pPr>
            <a:r>
              <a:t>• Formal comparison should use corrected results.</a:t>
            </a:r>
          </a:p>
          <a:p>
            <a:pPr>
              <a:spcAft>
                <a:spcPts val="700"/>
              </a:spcAft>
              <a:defRPr sz="1450" b="0">
                <a:solidFill>
                  <a:srgbClr val="374151"/>
                </a:solidFill>
                <a:latin typeface="Aptos"/>
              </a:defRPr>
            </a:pPr>
            <a:r>
              <a:t>• Base results remain useful for auditing scorer behavior.</a:t>
            </a:r>
          </a:p>
          <a:p>
            <a:pPr>
              <a:spcAft>
                <a:spcPts val="700"/>
              </a:spcAft>
              <a:defRPr sz="1450" b="0">
                <a:solidFill>
                  <a:srgbClr val="374151"/>
                </a:solidFill>
                <a:latin typeface="Aptos"/>
              </a:defRPr>
            </a:pPr>
            <a:r>
              <a:t>• A corrected oracle has not yet been computed, so headroom remains unquantified.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07408"/>
            <a:ext cx="5715000" cy="13258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480560"/>
            <a:ext cx="5568696" cy="12527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880" b="1" i="0">
                <a:solidFill>
                  <a:srgbClr val="12223F"/>
                </a:solidFill>
                <a:latin typeface="Aptos"/>
              </a:defRPr>
            </a:pPr>
            <a:r>
              <a:rPr sz="880" b="1" i="0">
                <a:solidFill>
                  <a:srgbClr val="12223F"/>
                </a:solidFill>
                <a:latin typeface="Aptos"/>
              </a:rPr>
              <a:t>IMAGE PLACEHOLDER: Optional audit visual — show a false negative corrected by v1.1 normalization.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Category-Level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201396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716"/>
                <a:gridCol w="2183920"/>
                <a:gridCol w="2183920"/>
                <a:gridCol w="2183920"/>
                <a:gridCol w="2183920"/>
              </a:tblGrid>
              <a:tr h="42976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Fixed</a:t>
                      </a: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CoT</a:t>
                      </a: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Router</a:t>
                      </a: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Router + FB</a:t>
                      </a:r>
                    </a:p>
                  </a:txBody>
                  <a:tcPr marL="36576" marR="36576" marT="22860" marB="22860">
                    <a:solidFill>
                      <a:srgbClr val="12223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Date Computation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0.5265 → 0.7008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0.5076 → 0.7159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0.5038 → 0.7045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0.5265 → 0.7235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Hour Adjustment (24h)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0.9545 → 0.9545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0.9773 → 0.9773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0.8864 → 0.8864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0.9318 → 0.9318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Time Zone Conversion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0.0000 → 0.2000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0.0000 → 0.2000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0.0000 → 0.3000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0.0000 → 0.3000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Year Shift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1.0000 → 1.0000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1.0000 → 1.0000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1.0000 → 1.0000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374151"/>
                          </a:solidFill>
                          <a:latin typeface="Aptos"/>
                        </a:defRPr>
                      </a:pPr>
                      <a:r>
                        <a:rPr sz="850" b="0">
                          <a:solidFill>
                            <a:srgbClr val="374151"/>
                          </a:solidFill>
                          <a:latin typeface="Aptos"/>
                        </a:rPr>
                        <a:t>1.0000 → 1.0000</a:t>
                      </a:r>
                    </a:p>
                  </a:txBody>
                  <a:tcPr marL="36576" marR="36576" marT="22860" marB="22860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3977639"/>
            <a:ext cx="6583680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Date Computation receives the largest normalization recovery but remains substantially below Hour24 and Year Shift.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Time Zone Conversion improves from zero under the base scorer but remains difficult after correction.</a:t>
            </a:r>
          </a:p>
          <a:p>
            <a:pPr>
              <a:spcAft>
                <a:spcPts val="700"/>
              </a:spcAft>
              <a:defRPr sz="1550" b="0">
                <a:solidFill>
                  <a:srgbClr val="374151"/>
                </a:solidFill>
                <a:latin typeface="Aptos"/>
              </a:defRPr>
            </a:pPr>
            <a:r>
              <a:t>• Year Shift is near ceiling in this slice; Hour24 errors appear to reflect real carry/borrow reasoning rather than formatting.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67328"/>
            <a:ext cx="3429000" cy="1783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183880" y="4178808"/>
            <a:ext cx="2880360" cy="109728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183880" y="4178808"/>
            <a:ext cx="2880360" cy="109728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0" y="3995928"/>
            <a:ext cx="2971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IMAGE / FIGURE PLACEHOLDER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453128"/>
            <a:ext cx="27889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 i="0">
                <a:solidFill>
                  <a:srgbClr val="12223F"/>
                </a:solidFill>
                <a:latin typeface="Aptos"/>
              </a:defRPr>
            </a:pPr>
            <a:r>
              <a:rPr sz="1800" b="1" i="0">
                <a:solidFill>
                  <a:srgbClr val="12223F"/>
                </a:solidFill>
                <a:latin typeface="Aptos"/>
              </a:rPr>
              <a:t>Category heatmap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184648"/>
            <a:ext cx="2606040" cy="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350" b="0" i="0">
                <a:solidFill>
                  <a:srgbClr val="374151"/>
                </a:solidFill>
                <a:latin typeface="Aptos"/>
              </a:defRPr>
            </a:pPr>
            <a:r>
              <a:rPr sz="1350" b="0" i="0">
                <a:solidFill>
                  <a:srgbClr val="374151"/>
                </a:solidFill>
                <a:latin typeface="Aptos"/>
              </a:rPr>
              <a:t>Suggested: screenshot or manually created heatmap of Base → Corrected changes by category.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Remaining Corrected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16152"/>
            <a:ext cx="52120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 i="0">
                <a:solidFill>
                  <a:srgbClr val="12223F"/>
                </a:solidFill>
                <a:latin typeface="Aptos"/>
              </a:defRPr>
            </a:pPr>
            <a:r>
              <a:rPr sz="1200" b="1" i="0">
                <a:solidFill>
                  <a:srgbClr val="12223F"/>
                </a:solidFill>
                <a:latin typeface="Aptos"/>
              </a:rPr>
              <a:t>Relative share of remaining corrected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36192"/>
            <a:ext cx="52120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121615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Date Computation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2011680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94560" y="2011680"/>
            <a:ext cx="3154680" cy="155448"/>
          </a:xfrm>
          <a:prstGeom prst="roundRect">
            <a:avLst/>
          </a:prstGeom>
          <a:solidFill>
            <a:srgbClr val="A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2392" y="1956816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305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96896"/>
            <a:ext cx="121615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Time Zone Conversion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651760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4560" y="2651760"/>
            <a:ext cx="620592" cy="155448"/>
          </a:xfrm>
          <a:prstGeom prst="roundRect">
            <a:avLst/>
          </a:prstGeom>
          <a:solidFill>
            <a:srgbClr val="A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8304" y="2596896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236976"/>
            <a:ext cx="121615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50" b="0" i="0">
                <a:solidFill>
                  <a:srgbClr val="374151"/>
                </a:solidFill>
                <a:latin typeface="Aptos"/>
              </a:defRPr>
            </a:pPr>
            <a:r>
              <a:rPr sz="950" b="0" i="0">
                <a:solidFill>
                  <a:srgbClr val="374151"/>
                </a:solidFill>
                <a:latin typeface="Aptos"/>
              </a:rPr>
              <a:t>Hour24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291840"/>
            <a:ext cx="3154680" cy="155448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94560" y="3291840"/>
            <a:ext cx="113775" cy="155448"/>
          </a:xfrm>
          <a:prstGeom prst="roundRect">
            <a:avLst/>
          </a:prstGeom>
          <a:solidFill>
            <a:srgbClr val="A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81487" y="3236976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0" i="0">
                <a:solidFill>
                  <a:srgbClr val="374151"/>
                </a:solidFill>
                <a:latin typeface="Aptos"/>
              </a:defRPr>
            </a:pPr>
            <a:r>
              <a:rPr sz="900" b="0" i="0">
                <a:solidFill>
                  <a:srgbClr val="374151"/>
                </a:solidFill>
                <a:latin typeface="Aptos"/>
              </a:rPr>
              <a:t>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508760"/>
            <a:ext cx="2240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1691639"/>
            <a:ext cx="1911096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 i="0">
                <a:solidFill>
                  <a:srgbClr val="A63636"/>
                </a:solidFill>
                <a:latin typeface="Aptos"/>
              </a:defRPr>
            </a:pPr>
            <a:r>
              <a:rPr sz="2800" b="1" i="0">
                <a:solidFill>
                  <a:srgbClr val="A63636"/>
                </a:solidFill>
                <a:latin typeface="Aptos"/>
              </a:rPr>
              <a:t>376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2286000"/>
            <a:ext cx="1911096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Total remaining corrected errors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508760"/>
            <a:ext cx="2240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2" y="1691639"/>
            <a:ext cx="1911096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 i="0">
                <a:solidFill>
                  <a:srgbClr val="A63636"/>
                </a:solidFill>
                <a:latin typeface="Aptos"/>
              </a:defRPr>
            </a:pPr>
            <a:r>
              <a:rPr sz="2800" b="1" i="0">
                <a:solidFill>
                  <a:srgbClr val="A63636"/>
                </a:solidFill>
                <a:latin typeface="Aptos"/>
              </a:rPr>
              <a:t>305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286000"/>
            <a:ext cx="1911096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Date Computation errors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2788920"/>
            <a:ext cx="2240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2971800"/>
            <a:ext cx="1911096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 i="0">
                <a:solidFill>
                  <a:srgbClr val="275388"/>
                </a:solidFill>
                <a:latin typeface="Aptos"/>
              </a:defRPr>
            </a:pPr>
            <a:r>
              <a:rPr sz="2800" b="1" i="0">
                <a:solidFill>
                  <a:srgbClr val="275388"/>
                </a:solidFill>
                <a:latin typeface="Aptos"/>
              </a:rPr>
              <a:t>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3566160"/>
            <a:ext cx="1911096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Time Zone Conversion errors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2788920"/>
            <a:ext cx="2240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71432" y="2971800"/>
            <a:ext cx="1911096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800" b="1" i="0">
                <a:solidFill>
                  <a:srgbClr val="CA9B3C"/>
                </a:solidFill>
                <a:latin typeface="Aptos"/>
              </a:defRPr>
            </a:pPr>
            <a:r>
              <a:rPr sz="2800" b="1" i="0">
                <a:solidFill>
                  <a:srgbClr val="CA9B3C"/>
                </a:solidFill>
                <a:latin typeface="Aptos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3566160"/>
            <a:ext cx="1911096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50" b="0" i="0">
                <a:solidFill>
                  <a:srgbClr val="374151"/>
                </a:solidFill>
                <a:latin typeface="Aptos"/>
              </a:defRPr>
            </a:pPr>
            <a:r>
              <a:rPr sz="1150" b="0" i="0">
                <a:solidFill>
                  <a:srgbClr val="374151"/>
                </a:solidFill>
                <a:latin typeface="Aptos"/>
              </a:rPr>
              <a:t>Hour24 errors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617720"/>
            <a:ext cx="640080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Date Computation is the dominant post-normalization bottleneck.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TZ errors cluster around one-hour offsets and minute mismatches.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Hour24 failures indicate carry/borrow state inconsistency.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4617720"/>
            <a:ext cx="3520440" cy="1143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79" y="4727448"/>
            <a:ext cx="3337560" cy="9144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880" b="1">
                <a:solidFill>
                  <a:srgbClr val="12223F"/>
                </a:solidFill>
                <a:latin typeface="Aptos"/>
              </a:defRPr>
            </a:pPr>
            <a:r>
              <a:rPr sz="880" b="1">
                <a:solidFill>
                  <a:srgbClr val="12223F"/>
                </a:solidFill>
                <a:latin typeface="Aptos"/>
              </a:rPr>
              <a:t>IMAGE PLACEHOLDER: Error examples — insert representative wrong predictions from each cluster.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Why Fallback Helps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55778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 i="0">
                <a:solidFill>
                  <a:srgbClr val="12223F"/>
                </a:solidFill>
                <a:latin typeface="Aptos"/>
              </a:defRPr>
            </a:pPr>
            <a:r>
              <a:rPr sz="2200" b="1" i="0">
                <a:solidFill>
                  <a:srgbClr val="12223F"/>
                </a:solidFill>
                <a:latin typeface="Aptos"/>
              </a:rPr>
              <a:t>Fallback as selective risk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669280" cy="2148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The maximum predicted class probability is used as a confidence score.</a:t>
            </a:r>
          </a:p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When confidence is low, the system avoids a potentially harmful category-specific prompt.</a:t>
            </a:r>
          </a:p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This mechanism improves robustness without adding additional LLM calls.</a:t>
            </a:r>
          </a:p>
          <a:p>
            <a:pPr>
              <a:spcAft>
                <a:spcPts val="700"/>
              </a:spcAft>
              <a:defRPr sz="1700" b="0">
                <a:solidFill>
                  <a:srgbClr val="374151"/>
                </a:solidFill>
                <a:latin typeface="Aptos"/>
              </a:defRPr>
            </a:pPr>
            <a:r>
              <a:t>• The empirical pattern is consistent with the broader selective prediction framing.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617720"/>
            <a:ext cx="4983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4864608"/>
            <a:ext cx="1965960" cy="292608"/>
          </a:xfrm>
          <a:prstGeom prst="round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937760"/>
            <a:ext cx="1874519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</a:rPr>
              <a:t>High confidence →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64608"/>
            <a:ext cx="2011680" cy="292608"/>
          </a:xfrm>
          <a:prstGeom prst="roundRect">
            <a:avLst/>
          </a:prstGeom>
          <a:solidFill>
            <a:srgbClr val="A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4937760"/>
            <a:ext cx="1920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</a:rPr>
              <a:t>Low confidence →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417320"/>
            <a:ext cx="3840480" cy="431596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452360" y="1828800"/>
            <a:ext cx="3291840" cy="3630168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452360" y="1828800"/>
            <a:ext cx="3291840" cy="3630168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06640" y="1645920"/>
            <a:ext cx="33832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IMAGE / FIGURE PLACEHOLDER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103120"/>
            <a:ext cx="3200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 i="0">
                <a:solidFill>
                  <a:srgbClr val="12223F"/>
                </a:solidFill>
                <a:latin typeface="Aptos"/>
              </a:defRPr>
            </a:pPr>
            <a:r>
              <a:rPr sz="1800" b="1" i="0">
                <a:solidFill>
                  <a:srgbClr val="12223F"/>
                </a:solidFill>
                <a:latin typeface="Aptos"/>
              </a:rPr>
              <a:t>Confidence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834640"/>
            <a:ext cx="3017520" cy="2532887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350" b="0" i="0">
                <a:solidFill>
                  <a:srgbClr val="374151"/>
                </a:solidFill>
                <a:latin typeface="Aptos"/>
              </a:defRPr>
            </a:pPr>
            <a:r>
              <a:rPr sz="1350" b="0" i="0">
                <a:solidFill>
                  <a:srgbClr val="374151"/>
                </a:solidFill>
                <a:latin typeface="Aptos"/>
              </a:rPr>
              <a:t>Suggested: histogram or calibration-style plot showing confidence and fallback threshold tau, if you export the classifier log.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SCOPE AND VALIDITY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649224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Corrected oracle is missing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   – The base oracle value cannot be compared against corrected results.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Classifier training logs are incomplete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   – Macro-F1, final threshold tau, and final hyperparameters should be exported.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Evaluation uses a 400-question frozen slice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   – Wilson intervals are reported, but broader test evaluation would strengthen inference.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• ruleset v1.1 is manually engineered</a:t>
            </a:r>
          </a:p>
          <a:p>
            <a:pPr>
              <a:spcAft>
                <a:spcPts val="700"/>
              </a:spcAft>
              <a:defRPr sz="1600" b="0">
                <a:solidFill>
                  <a:srgbClr val="374151"/>
                </a:solidFill>
                <a:latin typeface="Aptos"/>
              </a:defRPr>
            </a:pPr>
            <a:r>
              <a:t>   – Its transferability to open-answer benchmarks remains limited.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554480"/>
            <a:ext cx="3383280" cy="3794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092440" y="1965960"/>
            <a:ext cx="2834640" cy="310896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092440" y="1965960"/>
            <a:ext cx="2834640" cy="310896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0" y="1783080"/>
            <a:ext cx="29260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IMAGE / FIGURE 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27432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 i="0">
                <a:solidFill>
                  <a:srgbClr val="12223F"/>
                </a:solidFill>
                <a:latin typeface="Aptos"/>
              </a:defRPr>
            </a:pPr>
            <a:r>
              <a:rPr sz="1800" b="1" i="0">
                <a:solidFill>
                  <a:srgbClr val="12223F"/>
                </a:solidFill>
                <a:latin typeface="Aptos"/>
              </a:rPr>
              <a:t>Validity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71800"/>
            <a:ext cx="2560320" cy="20116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350" b="0" i="0">
                <a:solidFill>
                  <a:srgbClr val="374151"/>
                </a:solidFill>
                <a:latin typeface="Aptos"/>
              </a:defRPr>
            </a:pPr>
            <a:r>
              <a:rPr sz="1350" b="0" i="0">
                <a:solidFill>
                  <a:srgbClr val="374151"/>
                </a:solidFill>
                <a:latin typeface="Aptos"/>
              </a:rPr>
              <a:t>Suggested: screenshot or diagram summarizing threats to validity: oracle, logging, sample size, and rule transferability.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Future Work: Follow the Corrected Error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44752"/>
            <a:ext cx="10424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27632"/>
            <a:ext cx="28346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 i="0">
                <a:solidFill>
                  <a:srgbClr val="12223F"/>
                </a:solidFill>
                <a:latin typeface="Aptos"/>
              </a:defRPr>
            </a:pPr>
            <a:r>
              <a:rPr sz="1700" b="1" i="0">
                <a:solidFill>
                  <a:srgbClr val="12223F"/>
                </a:solidFill>
                <a:latin typeface="Aptos"/>
              </a:rPr>
              <a:t>Date prompt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627632"/>
            <a:ext cx="4846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50" b="0" i="0">
                <a:solidFill>
                  <a:srgbClr val="374151"/>
                </a:solidFill>
                <a:latin typeface="Aptos"/>
              </a:defRPr>
            </a:pPr>
            <a:r>
              <a:rPr sz="1450" b="0" i="0">
                <a:solidFill>
                  <a:srgbClr val="374151"/>
                </a:solidFill>
                <a:latin typeface="Aptos"/>
              </a:rPr>
              <a:t>Target cross-month/year steps, leap-year checks, and multi-field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709928"/>
            <a:ext cx="1417320" cy="301752"/>
          </a:xfrm>
          <a:prstGeom prst="roundRect">
            <a:avLst/>
          </a:prstGeom>
          <a:solidFill>
            <a:srgbClr val="A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783080"/>
            <a:ext cx="1325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</a:rPr>
              <a:t>305 errors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70632"/>
            <a:ext cx="10424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953512"/>
            <a:ext cx="28346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 i="0">
                <a:solidFill>
                  <a:srgbClr val="12223F"/>
                </a:solidFill>
                <a:latin typeface="Aptos"/>
              </a:defRPr>
            </a:pPr>
            <a:r>
              <a:rPr sz="1700" b="1" i="0">
                <a:solidFill>
                  <a:srgbClr val="12223F"/>
                </a:solidFill>
                <a:latin typeface="Aptos"/>
              </a:rPr>
              <a:t>TZ directional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953512"/>
            <a:ext cx="4846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50" b="0" i="0">
                <a:solidFill>
                  <a:srgbClr val="374151"/>
                </a:solidFill>
                <a:latin typeface="Aptos"/>
              </a:defRPr>
            </a:pPr>
            <a:r>
              <a:rPr sz="1450" b="0" i="0">
                <a:solidFill>
                  <a:srgbClr val="374151"/>
                </a:solidFill>
                <a:latin typeface="Aptos"/>
              </a:rPr>
              <a:t>Make direction, UTC conversion, and half-hour offsets explicit.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3035808"/>
            <a:ext cx="1417320" cy="301752"/>
          </a:xfrm>
          <a:prstGeom prst="roundRect">
            <a:avLst/>
          </a:prstGeom>
          <a:solidFill>
            <a:srgbClr val="27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3108960"/>
            <a:ext cx="1325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</a:rPr>
              <a:t>60 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96512"/>
            <a:ext cx="10424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79392"/>
            <a:ext cx="28346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 i="0">
                <a:solidFill>
                  <a:srgbClr val="12223F"/>
                </a:solidFill>
                <a:latin typeface="Aptos"/>
              </a:defRPr>
            </a:pPr>
            <a:r>
              <a:rPr sz="1700" b="1" i="0">
                <a:solidFill>
                  <a:srgbClr val="12223F"/>
                </a:solidFill>
                <a:latin typeface="Aptos"/>
              </a:rPr>
              <a:t>Hour24 carry/borrow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279392"/>
            <a:ext cx="48463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50" b="0" i="0">
                <a:solidFill>
                  <a:srgbClr val="374151"/>
                </a:solidFill>
                <a:latin typeface="Aptos"/>
              </a:defRPr>
            </a:pPr>
            <a:r>
              <a:rPr sz="1450" b="0" i="0">
                <a:solidFill>
                  <a:srgbClr val="374151"/>
                </a:solidFill>
                <a:latin typeface="Aptos"/>
              </a:rPr>
              <a:t>Force minute-first calculation, then borrow/carry, then hour update.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4361688"/>
            <a:ext cx="1417320" cy="301752"/>
          </a:xfrm>
          <a:prstGeom prst="roundRect">
            <a:avLst/>
          </a:prstGeom>
          <a:solidFill>
            <a:srgbClr val="CA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434840"/>
            <a:ext cx="1325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</a:rPr>
              <a:t>11 errors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59552"/>
            <a:ext cx="1024128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632704"/>
            <a:ext cx="10094976" cy="4754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819" b="1" i="0">
                <a:solidFill>
                  <a:srgbClr val="12223F"/>
                </a:solidFill>
                <a:latin typeface="Aptos"/>
              </a:defRPr>
            </a:pPr>
            <a:r>
              <a:rPr sz="819" b="1" i="0">
                <a:solidFill>
                  <a:srgbClr val="12223F"/>
                </a:solidFill>
                <a:latin typeface="Aptos"/>
              </a:rPr>
              <a:t>IMAGE PLACEHOLDER: Roadmap visual — insert a one-row roadmap arrow from Date to TZ to Hour24.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36576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 i="0">
                <a:solidFill>
                  <a:srgbClr val="12223F"/>
                </a:solidFill>
                <a:latin typeface="Aptos"/>
              </a:defRPr>
            </a:pPr>
            <a:r>
              <a:rPr sz="2200" b="1" i="0">
                <a:solidFill>
                  <a:srgbClr val="12223F"/>
                </a:solidFill>
                <a:latin typeface="Aptos"/>
              </a:rPr>
              <a:t>Three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6537960" cy="2103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374151"/>
                </a:solidFill>
                <a:latin typeface="Aptos"/>
              </a:defRPr>
            </a:pPr>
            <a:r>
              <a:t>• Complex temporal reasoning is heterogeneous enough to justify classifier-driven prompt routing.</a:t>
            </a:r>
          </a:p>
          <a:p>
            <a:pPr>
              <a:spcAft>
                <a:spcPts val="700"/>
              </a:spcAft>
              <a:defRPr sz="1800" b="0">
                <a:solidFill>
                  <a:srgbClr val="374151"/>
                </a:solidFill>
                <a:latin typeface="Aptos"/>
              </a:defRPr>
            </a:pPr>
            <a:r>
              <a:t>• Under ruleset v1.1, Router + Fallback is the strongest observed workflow with no extra LLM call count.</a:t>
            </a:r>
          </a:p>
          <a:p>
            <a:pPr>
              <a:spcAft>
                <a:spcPts val="700"/>
              </a:spcAft>
              <a:defRPr sz="1800" b="0">
                <a:solidFill>
                  <a:srgbClr val="374151"/>
                </a:solidFill>
                <a:latin typeface="Aptos"/>
              </a:defRPr>
            </a:pPr>
            <a:r>
              <a:t>• After format artifacts are removed, the research agenda becomes clearer: Date, TZ, and Hour24 are the main structural bottlenecks.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754880"/>
            <a:ext cx="6492240" cy="68580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2B8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19472"/>
            <a:ext cx="6217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50" b="1" i="0">
                <a:solidFill>
                  <a:srgbClr val="12223F"/>
                </a:solidFill>
                <a:latin typeface="Aptos"/>
              </a:defRPr>
            </a:pPr>
            <a:r>
              <a:rPr sz="1550" b="1" i="0">
                <a:solidFill>
                  <a:srgbClr val="12223F"/>
                </a:solidFill>
                <a:latin typeface="Aptos"/>
              </a:rPr>
              <a:t>Core message: this work is not only a routing method, but also a cleaner measurement framework for temporal reasoning.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508760"/>
            <a:ext cx="320040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275320" y="1920240"/>
            <a:ext cx="2651760" cy="342900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275320" y="1920240"/>
            <a:ext cx="2651760" cy="3429000"/>
          </a:xfrm>
          <a:prstGeom prst="line">
            <a:avLst/>
          </a:prstGeom>
          <a:ln w="1270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0" y="1737360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IMAGE / FIGURE PLACEHOLDER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25603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 i="0">
                <a:solidFill>
                  <a:srgbClr val="12223F"/>
                </a:solidFill>
                <a:latin typeface="Aptos"/>
              </a:defRPr>
            </a:pPr>
            <a:r>
              <a:rPr sz="1800" b="1" i="0">
                <a:solidFill>
                  <a:srgbClr val="12223F"/>
                </a:solidFill>
                <a:latin typeface="Aptos"/>
              </a:rPr>
              <a:t>Closing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26080"/>
            <a:ext cx="2377440" cy="23317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350" b="0" i="0">
                <a:solidFill>
                  <a:srgbClr val="374151"/>
                </a:solidFill>
                <a:latin typeface="Aptos"/>
              </a:defRPr>
            </a:pPr>
            <a:r>
              <a:rPr sz="1350" b="0" i="0">
                <a:solidFill>
                  <a:srgbClr val="374151"/>
                </a:solidFill>
                <a:latin typeface="Aptos"/>
              </a:rPr>
              <a:t>Suggested: a final architecture or result-summary screenshot, preferably one clean figure rather than many small tables.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50" b="1" i="0">
                <a:solidFill>
                  <a:srgbClr val="2B8C8B"/>
                </a:solidFill>
                <a:latin typeface="Aptos"/>
              </a:defRPr>
            </a:pPr>
            <a:r>
              <a:rPr sz="950" b="1" i="0">
                <a:solidFill>
                  <a:srgbClr val="2B8C8B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 i="0">
                <a:solidFill>
                  <a:srgbClr val="12223F"/>
                </a:solidFill>
                <a:latin typeface="Aptos"/>
              </a:defRPr>
            </a:pPr>
            <a:r>
              <a:rPr sz="3000" b="1" i="0">
                <a:solidFill>
                  <a:srgbClr val="12223F"/>
                </a:solidFill>
                <a:latin typeface="Aptos"/>
              </a:rPr>
              <a:t>Selected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70432"/>
            <a:ext cx="1325880" cy="41148"/>
          </a:xfrm>
          <a:prstGeom prst="rect">
            <a:avLst/>
          </a:prstGeom>
          <a:solidFill>
            <a:srgbClr val="2B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50" b="0" i="0">
                <a:solidFill>
                  <a:srgbClr val="687480"/>
                </a:solidFill>
                <a:latin typeface="Aptos"/>
              </a:defRPr>
            </a:pPr>
            <a:r>
              <a:rPr sz="850" b="0" i="0">
                <a:solidFill>
                  <a:srgbClr val="687480"/>
                </a:solidFill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498079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50" b="0" i="0">
                <a:solidFill>
                  <a:srgbClr val="687480"/>
                </a:solidFill>
                <a:latin typeface="Aptos"/>
              </a:defRPr>
            </a:pPr>
            <a:r>
              <a:rPr sz="750" b="0" i="0">
                <a:solidFill>
                  <a:srgbClr val="687480"/>
                </a:solidFill>
                <a:latin typeface="Aptos"/>
              </a:rPr>
              <a:t>Classifier-Driven Prompt Routing for Complex Temporal Reasoning on TRAM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607040" cy="4023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Wang, Y. &amp; Zhao, Y. (2024). TRAM: Benchmarking Temporal Reasoning for Large Language Models.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Chu, Z. et al. (2024). TIMEBENCH: A Comprehensive Evaluation of Temporal Reasoning Abilities in LLMs.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Wei, J. et al. (2022). Chain-of-Thought Prompting Elicits Reasoning in Large Language Models.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Kojima, T. et al. (2022). Large Language Models are Zero-Shot Reasoners.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Geifman, Y. &amp; El-Yaniv, R. (2017). Selective Classification for Deep Neural Networks.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Guo, C. et al. (2017). On Calibration of Modern Neural Networks.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Manning, C. D., Raghavan, P. &amp; Schütze, H. (2008). Introduction to Information Retrieval.</a:t>
            </a:r>
          </a:p>
          <a:p>
            <a:pPr>
              <a:spcAft>
                <a:spcPts val="1000"/>
              </a:spcAft>
              <a:defRPr sz="1370" b="0">
                <a:solidFill>
                  <a:srgbClr val="374151"/>
                </a:solidFill>
                <a:latin typeface="Aptos"/>
              </a:defRPr>
            </a:pPr>
            <a:r>
              <a:t>Fan, R.-E. et al. (2008). LIBLINEAR: A Library for Large Linear 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715000"/>
            <a:ext cx="10241280" cy="43891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A0AAB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788152"/>
            <a:ext cx="10094976" cy="36575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819" b="1" i="0">
                <a:solidFill>
                  <a:srgbClr val="12223F"/>
                </a:solidFill>
                <a:latin typeface="Aptos"/>
              </a:defRPr>
            </a:pPr>
            <a:r>
              <a:rPr sz="819" b="1" i="0">
                <a:solidFill>
                  <a:srgbClr val="12223F"/>
                </a:solidFill>
                <a:latin typeface="Aptos"/>
              </a:rPr>
              <a:t>IMAGE PLACEHOLDER: Reference note — keep full bibliographic details in the written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