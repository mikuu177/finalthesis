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66" r:id="rId15"/>
    <p:sldId id="267" r:id="rId16"/>
    <p:sldId id="268" r:id="rId17"/>
    <p:sldId id="269" r:id="rId18"/>
    <p:sldId id="270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TextBox 8"/>
          <p:cNvSpPr txBox="1"/>
          <p:nvPr/>
        </p:nvSpPr>
        <p:spPr>
          <a:xfrm>
            <a:off x="3839210" y="4565015"/>
            <a:ext cx="2194560" cy="2355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Presenter: </a:t>
            </a:r>
            <a:r>
              <a:rPr lang="en-US"/>
              <a:t>Nie Wenhao</a:t>
            </a:r>
            <a:endParaRPr lang="en-US"/>
          </a:p>
        </p:txBody>
      </p:sp>
      <p:sp>
        <p:nvSpPr>
          <p:cNvPr id="20" name="TextBox 9"/>
          <p:cNvSpPr txBox="1"/>
          <p:nvPr/>
        </p:nvSpPr>
        <p:spPr>
          <a:xfrm>
            <a:off x="6033770" y="4565015"/>
            <a:ext cx="2743200" cy="2355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Supervisor: </a:t>
            </a:r>
            <a:r>
              <a:rPr lang="en-US"/>
              <a:t>Jia Zhen</a:t>
            </a:r>
            <a:endParaRPr 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655" y="2833636"/>
            <a:ext cx="2874120" cy="989088"/>
          </a:xfrm>
          <a:prstGeom prst="rect">
            <a:avLst/>
          </a:prstGeom>
        </p:spPr>
      </p:pic>
      <p:pic>
        <p:nvPicPr>
          <p:cNvPr id="22" name="图片 21" descr="lee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0" y="2833370"/>
            <a:ext cx="2893695" cy="93218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931795" y="191897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Southwest Jiaotong University - Leeds University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1188720" y="1290828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400" b="1">
                <a:solidFill>
                  <a:srgbClr val="002D5A"/>
                </a:solidFill>
                <a:latin typeface="Arial" panose="020B0604020202020204"/>
              </a:defRPr>
            </a:pPr>
            <a:r>
              <a:t>for Complex Temporal Reasoning on TRAM</a:t>
            </a:r>
          </a:p>
        </p:txBody>
      </p:sp>
      <p:sp>
        <p:nvSpPr>
          <p:cNvPr id="25" name="TextBox 4"/>
          <p:cNvSpPr txBox="1"/>
          <p:nvPr/>
        </p:nvSpPr>
        <p:spPr>
          <a:xfrm>
            <a:off x="1188720" y="834390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800" b="1">
                <a:solidFill>
                  <a:srgbClr val="002D5A"/>
                </a:solidFill>
                <a:latin typeface="Arial" panose="020B0604020202020204"/>
              </a:defRPr>
            </a:pPr>
            <a:r>
              <a:t>Classifier-Driven Prompt Routing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1835150" y="1750695"/>
            <a:ext cx="83432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448AD7"/>
          </a:solidFill>
          <a:ln w="12700">
            <a:solidFill>
              <a:srgbClr val="448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29" y="868813"/>
            <a:ext cx="3840280" cy="37401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defRPr sz="2200" b="1">
                <a:solidFill>
                  <a:srgbClr val="002D5A"/>
                </a:solidFill>
                <a:latin typeface="Arial" panose="020B0604020202020204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504466" y="2122246"/>
            <a:ext cx="936679" cy="40449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cxnSp>
        <p:nvCxnSpPr>
          <p:cNvPr id="5" name="Connector 4"/>
          <p:cNvCxnSpPr/>
          <p:nvPr>
            <p:custDataLst>
              <p:tags r:id="rId2"/>
            </p:custDataLst>
          </p:nvPr>
        </p:nvCxnSpPr>
        <p:spPr>
          <a:xfrm>
            <a:off x="1644968" y="2684254"/>
            <a:ext cx="655675" cy="0"/>
          </a:xfrm>
          <a:prstGeom prst="line">
            <a:avLst/>
          </a:prstGeom>
          <a:ln w="27940">
            <a:solidFill>
              <a:srgbClr val="448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270297" y="2965257"/>
            <a:ext cx="1405018" cy="40449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1200" b="1">
                <a:solidFill>
                  <a:srgbClr val="002D5A"/>
                </a:solidFill>
                <a:latin typeface="Arial" panose="020B0604020202020204"/>
              </a:defRPr>
            </a:pPr>
            <a:r>
              <a:t>Research Background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176629" y="3433597"/>
            <a:ext cx="1639188" cy="341630"/>
          </a:xfrm>
          <a:prstGeom prst="rect">
            <a:avLst/>
          </a:prstGeom>
          <a:noFill/>
        </p:spPr>
        <p:txBody>
          <a:bodyPr wrap="square" lIns="45717" tIns="27430" rIns="45717" bIns="2743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850" b="0">
                <a:solidFill>
                  <a:srgbClr val="5A5A5A"/>
                </a:solidFill>
                <a:latin typeface="Arial" panose="020B0604020202020204"/>
              </a:defRPr>
            </a:pPr>
            <a:r>
              <a:t>Why temporal reasoning requires task-aware prompting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658828" y="2122246"/>
            <a:ext cx="936679" cy="40449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cxnSp>
        <p:nvCxnSpPr>
          <p:cNvPr id="9" name="Connector 8"/>
          <p:cNvCxnSpPr/>
          <p:nvPr>
            <p:custDataLst>
              <p:tags r:id="rId6"/>
            </p:custDataLst>
          </p:nvPr>
        </p:nvCxnSpPr>
        <p:spPr>
          <a:xfrm>
            <a:off x="3799330" y="2684254"/>
            <a:ext cx="655675" cy="0"/>
          </a:xfrm>
          <a:prstGeom prst="line">
            <a:avLst/>
          </a:prstGeom>
          <a:ln w="27940">
            <a:solidFill>
              <a:srgbClr val="448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3424658" y="2965257"/>
            <a:ext cx="1405018" cy="2197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1200" b="1">
                <a:solidFill>
                  <a:srgbClr val="002D5A"/>
                </a:solidFill>
                <a:latin typeface="Arial" panose="020B0604020202020204"/>
              </a:defRPr>
            </a:pPr>
            <a:r>
              <a:t>Method Design</a:t>
            </a: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3330990" y="3433597"/>
            <a:ext cx="1639188" cy="341630"/>
          </a:xfrm>
          <a:prstGeom prst="rect">
            <a:avLst/>
          </a:prstGeom>
          <a:noFill/>
        </p:spPr>
        <p:txBody>
          <a:bodyPr wrap="square" lIns="45717" tIns="27430" rIns="45717" bIns="2743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850" b="0">
                <a:solidFill>
                  <a:srgbClr val="5A5A5A"/>
                </a:solidFill>
                <a:latin typeface="Arial" panose="020B0604020202020204"/>
              </a:defRPr>
            </a:pPr>
            <a:r>
              <a:t>Classifier-driven routing and low-confidence fallback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5813189" y="2122246"/>
            <a:ext cx="936679" cy="40449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cxnSp>
        <p:nvCxnSpPr>
          <p:cNvPr id="13" name="Connector 12"/>
          <p:cNvCxnSpPr/>
          <p:nvPr>
            <p:custDataLst>
              <p:tags r:id="rId10"/>
            </p:custDataLst>
          </p:nvPr>
        </p:nvCxnSpPr>
        <p:spPr>
          <a:xfrm>
            <a:off x="5953691" y="2684254"/>
            <a:ext cx="655675" cy="0"/>
          </a:xfrm>
          <a:prstGeom prst="line">
            <a:avLst/>
          </a:prstGeom>
          <a:ln w="27940">
            <a:solidFill>
              <a:srgbClr val="448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5579019" y="2965257"/>
            <a:ext cx="1405018" cy="40449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1200" b="1">
                <a:solidFill>
                  <a:srgbClr val="002D5A"/>
                </a:solidFill>
                <a:latin typeface="Arial" panose="020B0604020202020204"/>
              </a:defRPr>
            </a:pPr>
            <a:r>
              <a:t>Experimental Validation</a:t>
            </a: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485352" y="3433597"/>
            <a:ext cx="1639188" cy="341630"/>
          </a:xfrm>
          <a:prstGeom prst="rect">
            <a:avLst/>
          </a:prstGeom>
          <a:noFill/>
        </p:spPr>
        <p:txBody>
          <a:bodyPr wrap="square" lIns="45717" tIns="27430" rIns="45717" bIns="2743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850" b="0">
                <a:solidFill>
                  <a:srgbClr val="5A5A5A"/>
                </a:solidFill>
                <a:latin typeface="Arial" panose="020B0604020202020204"/>
              </a:defRPr>
            </a:pPr>
            <a:r>
              <a:t>Evaluation protocol, workflows, and main results</a:t>
            </a: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7967551" y="2122246"/>
            <a:ext cx="936679" cy="40449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cxnSp>
        <p:nvCxnSpPr>
          <p:cNvPr id="17" name="Connector 16"/>
          <p:cNvCxnSpPr/>
          <p:nvPr>
            <p:custDataLst>
              <p:tags r:id="rId14"/>
            </p:custDataLst>
          </p:nvPr>
        </p:nvCxnSpPr>
        <p:spPr>
          <a:xfrm>
            <a:off x="8108052" y="2684254"/>
            <a:ext cx="655675" cy="0"/>
          </a:xfrm>
          <a:prstGeom prst="line">
            <a:avLst/>
          </a:prstGeom>
          <a:ln w="27940">
            <a:solidFill>
              <a:srgbClr val="448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7733381" y="2965257"/>
            <a:ext cx="1405018" cy="2197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1200" b="1">
                <a:solidFill>
                  <a:srgbClr val="002D5A"/>
                </a:solidFill>
                <a:latin typeface="Arial" panose="020B0604020202020204"/>
              </a:defRPr>
            </a:pPr>
            <a:r>
              <a:t>Error Analysis</a:t>
            </a: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7639713" y="3433597"/>
            <a:ext cx="1639188" cy="341630"/>
          </a:xfrm>
          <a:prstGeom prst="rect">
            <a:avLst/>
          </a:prstGeom>
          <a:noFill/>
        </p:spPr>
        <p:txBody>
          <a:bodyPr wrap="square" lIns="45717" tIns="27430" rIns="45717" bIns="2743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850" b="0">
                <a:solidFill>
                  <a:srgbClr val="5A5A5A"/>
                </a:solidFill>
                <a:latin typeface="Arial" panose="020B0604020202020204"/>
              </a:defRPr>
            </a:pPr>
            <a:r>
              <a:t>Post-normalization bottlenecks and validity boundaries</a:t>
            </a:r>
          </a:p>
        </p:txBody>
      </p:sp>
      <p:sp>
        <p:nvSpPr>
          <p:cNvPr id="20" name="TextBox 19"/>
          <p:cNvSpPr txBox="1"/>
          <p:nvPr>
            <p:custDataLst>
              <p:tags r:id="rId17"/>
            </p:custDataLst>
          </p:nvPr>
        </p:nvSpPr>
        <p:spPr>
          <a:xfrm>
            <a:off x="10121912" y="2122246"/>
            <a:ext cx="936679" cy="40449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cxnSp>
        <p:nvCxnSpPr>
          <p:cNvPr id="21" name="Connector 20"/>
          <p:cNvCxnSpPr/>
          <p:nvPr>
            <p:custDataLst>
              <p:tags r:id="rId18"/>
            </p:custDataLst>
          </p:nvPr>
        </p:nvCxnSpPr>
        <p:spPr>
          <a:xfrm>
            <a:off x="10262414" y="2684254"/>
            <a:ext cx="655675" cy="0"/>
          </a:xfrm>
          <a:prstGeom prst="line">
            <a:avLst/>
          </a:prstGeom>
          <a:ln w="27940">
            <a:solidFill>
              <a:srgbClr val="448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>
            <p:custDataLst>
              <p:tags r:id="rId19"/>
            </p:custDataLst>
          </p:nvPr>
        </p:nvSpPr>
        <p:spPr>
          <a:xfrm>
            <a:off x="9887742" y="2965257"/>
            <a:ext cx="1405018" cy="2197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defRPr sz="1200" b="1">
                <a:solidFill>
                  <a:srgbClr val="002D5A"/>
                </a:solidFill>
                <a:latin typeface="Arial" panose="020B0604020202020204"/>
              </a:defRPr>
            </a:pPr>
            <a:r>
              <a:t>Conclusion</a:t>
            </a:r>
          </a:p>
        </p:txBody>
      </p:sp>
      <p:sp>
        <p:nvSpPr>
          <p:cNvPr id="23" name="TextBox 22"/>
          <p:cNvSpPr txBox="1"/>
          <p:nvPr>
            <p:custDataLst>
              <p:tags r:id="rId20"/>
            </p:custDataLst>
          </p:nvPr>
        </p:nvSpPr>
        <p:spPr>
          <a:xfrm>
            <a:off x="9794074" y="3433597"/>
            <a:ext cx="1639188" cy="198120"/>
          </a:xfrm>
          <a:prstGeom prst="rect">
            <a:avLst/>
          </a:prstGeom>
          <a:noFill/>
        </p:spPr>
        <p:txBody>
          <a:bodyPr wrap="square" lIns="45717" tIns="27430" rIns="45717" bIns="2743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850" b="0">
                <a:solidFill>
                  <a:srgbClr val="5A5A5A"/>
                </a:solidFill>
                <a:latin typeface="Arial" panose="020B0604020202020204"/>
              </a:defRPr>
            </a:pPr>
            <a:r>
              <a:t>Main findings and 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24" y="6583516"/>
            <a:ext cx="6857643" cy="13525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defRPr sz="650" b="0">
                <a:solidFill>
                  <a:srgbClr val="5A5A5A"/>
                </a:solidFill>
                <a:latin typeface="Arial" panose="020B0604020202020204"/>
              </a:defRPr>
            </a:pPr>
            <a:r>
              <a:t>Classifier-Driven Prompt Routing for Complex Temporal Reasoning on TRAM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" y="8433"/>
            <a:ext cx="1942999" cy="668620"/>
          </a:xfrm>
          <a:prstGeom prst="rect">
            <a:avLst/>
          </a:prstGeom>
        </p:spPr>
      </p:pic>
      <p:sp>
        <p:nvSpPr>
          <p:cNvPr id="3" name="TextBox 6"/>
          <p:cNvSpPr txBox="1"/>
          <p:nvPr/>
        </p:nvSpPr>
        <p:spPr>
          <a:xfrm>
            <a:off x="11384280" y="6473952"/>
            <a:ext cx="457200" cy="1657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</a:t>
            </a:r>
            <a:r>
              <a:rPr lang="en-US" sz="850" b="0" i="0">
                <a:solidFill>
                  <a:srgbClr val="687480"/>
                </a:solidFill>
                <a:latin typeface="Aptos"/>
              </a:rPr>
              <a:t>1</a:t>
            </a:r>
            <a:endParaRPr lang="en-US" sz="850" b="0" i="0">
              <a:solidFill>
                <a:srgbClr val="6874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5552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Motivation: Temporal Reasoning Is Not a Single Skill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287272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02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539748"/>
            <a:ext cx="5897880" cy="3566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850" b="0">
                <a:solidFill>
                  <a:srgbClr val="374151"/>
                </a:solidFill>
                <a:latin typeface="Aptos"/>
              </a:defRPr>
            </a:pPr>
            <a:r>
              <a:t>• Real-world temporal QA combines language understanding with stable symbolic operations.</a:t>
            </a:r>
          </a:p>
          <a:p>
            <a:pPr>
              <a:spcAft>
                <a:spcPts val="700"/>
              </a:spcAft>
              <a:defRPr sz="1850" b="0">
                <a:solidFill>
                  <a:srgbClr val="374151"/>
                </a:solidFill>
                <a:latin typeface="Aptos"/>
              </a:defRPr>
            </a:pPr>
            <a:r>
              <a:t>• TRAM covers heterogeneous phenomena such as ordering, arithmetic, duration, frequency, and time-zone conversion.</a:t>
            </a:r>
          </a:p>
          <a:p>
            <a:pPr>
              <a:spcAft>
                <a:spcPts val="700"/>
              </a:spcAft>
              <a:defRPr sz="1850" b="0">
                <a:solidFill>
                  <a:srgbClr val="374151"/>
                </a:solidFill>
                <a:latin typeface="Aptos"/>
              </a:defRPr>
            </a:pPr>
            <a:r>
              <a:t>• A single universal prompt is unlikely to be equally effective across all temporal subskills.</a:t>
            </a:r>
          </a:p>
          <a:p>
            <a:pPr>
              <a:spcAft>
                <a:spcPts val="700"/>
              </a:spcAft>
              <a:defRPr sz="1850" b="0">
                <a:solidFill>
                  <a:srgbClr val="374151"/>
                </a:solidFill>
                <a:latin typeface="Aptos"/>
              </a:defRPr>
            </a:pPr>
            <a:r>
              <a:t>• The central question: can a lightweight external router improve end-to-end accuracy without retraining the LLM?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0368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317363"/>
            <a:ext cx="168249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2B8C8B"/>
                </a:solidFill>
                <a:latin typeface="Aptos"/>
              </a:defRPr>
            </a:pPr>
            <a:r>
              <a:rPr sz="2800" b="1" i="0">
                <a:solidFill>
                  <a:srgbClr val="2B8C8B"/>
                </a:solidFill>
                <a:latin typeface="Aptos"/>
              </a:rPr>
              <a:t>1,600</a:t>
            </a:r>
            <a:endParaRPr sz="2800" b="1" i="0">
              <a:solidFill>
                <a:srgbClr val="2B8C8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5774562"/>
            <a:ext cx="1682496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Workflow outputs evaluated under v1.1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71800" y="52303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5317363"/>
            <a:ext cx="149961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275388"/>
                </a:solidFill>
                <a:latin typeface="Aptos"/>
              </a:defRPr>
            </a:pPr>
            <a:r>
              <a:rPr sz="2800" b="1" i="0">
                <a:solidFill>
                  <a:srgbClr val="275388"/>
                </a:solidFill>
                <a:latin typeface="Aptos"/>
              </a:rPr>
              <a:t>400</a:t>
            </a:r>
            <a:endParaRPr sz="2800" b="1" i="0">
              <a:solidFill>
                <a:srgbClr val="27538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51810" y="5837555"/>
            <a:ext cx="1669415" cy="212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Frozen evaluation slice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83480" y="52303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072" y="5317363"/>
            <a:ext cx="149961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CA9B3C"/>
                </a:solidFill>
                <a:latin typeface="Aptos"/>
              </a:defRPr>
            </a:pPr>
            <a:r>
              <a:rPr sz="2800" b="1" i="0">
                <a:solidFill>
                  <a:srgbClr val="CA9B3C"/>
                </a:solidFill>
                <a:latin typeface="Aptos"/>
              </a:rPr>
              <a:t>1.0</a:t>
            </a:r>
            <a:endParaRPr sz="2800" b="1" i="0">
              <a:solidFill>
                <a:srgbClr val="CA9B3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8072" y="5774562"/>
            <a:ext cx="1499616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LLM calls per query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pic>
        <p:nvPicPr>
          <p:cNvPr id="25" name="图片 24" descr="S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815" y="1609725"/>
            <a:ext cx="5492115" cy="2665095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sp>
          <p:nvSpPr>
            <p:cNvPr id="26" name="TextBox 1"/>
            <p:cNvSpPr txBox="1"/>
            <p:nvPr/>
          </p:nvSpPr>
          <p:spPr>
            <a:xfrm>
              <a:off x="4392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1">
                  <a:solidFill>
                    <a:srgbClr val="0070C0"/>
                  </a:solidFill>
                  <a:latin typeface="Arial" panose="020B0604020202020204"/>
                </a:defRPr>
              </a:pPr>
              <a:r>
                <a:t>Research Background</a:t>
              </a:r>
            </a:p>
          </p:txBody>
        </p:sp>
        <p:cxnSp>
          <p:nvCxnSpPr>
            <p:cNvPr id="27" name="Connector 2"/>
            <p:cNvCxnSpPr/>
            <p:nvPr/>
          </p:nvCxnSpPr>
          <p:spPr>
            <a:xfrm>
              <a:off x="4565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"/>
            <p:cNvSpPr txBox="1"/>
            <p:nvPr/>
          </p:nvSpPr>
          <p:spPr>
            <a:xfrm>
              <a:off x="7128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Method Design</a:t>
              </a:r>
            </a:p>
          </p:txBody>
        </p:sp>
        <p:sp>
          <p:nvSpPr>
            <p:cNvPr id="29" name="TextBox 4"/>
            <p:cNvSpPr txBox="1"/>
            <p:nvPr/>
          </p:nvSpPr>
          <p:spPr>
            <a:xfrm>
              <a:off x="9864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Experimental Validation</a:t>
              </a:r>
            </a:p>
          </p:txBody>
        </p:sp>
        <p:sp>
          <p:nvSpPr>
            <p:cNvPr id="30" name="TextBox 5"/>
            <p:cNvSpPr txBox="1"/>
            <p:nvPr/>
          </p:nvSpPr>
          <p:spPr>
            <a:xfrm>
              <a:off x="12600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Error Analysis</a:t>
              </a:r>
            </a:p>
          </p:txBody>
        </p:sp>
        <p:sp>
          <p:nvSpPr>
            <p:cNvPr id="31" name="TextBox 6"/>
            <p:cNvSpPr txBox="1"/>
            <p:nvPr/>
          </p:nvSpPr>
          <p:spPr>
            <a:xfrm>
              <a:off x="15336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Conclusion</a:t>
              </a:r>
            </a:p>
          </p:txBody>
        </p:sp>
        <p:cxnSp>
          <p:nvCxnSpPr>
            <p:cNvPr id="33" name="Connector 7"/>
            <p:cNvCxnSpPr/>
            <p:nvPr/>
          </p:nvCxnSpPr>
          <p:spPr>
            <a:xfrm>
              <a:off x="792" y="1080"/>
              <a:ext cx="16704" cy="0"/>
            </a:xfrm>
            <a:prstGeom prst="line">
              <a:avLst/>
            </a:prstGeom>
            <a:ln w="10160">
              <a:solidFill>
                <a:srgbClr val="E6EA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" y="191"/>
              <a:ext cx="2608" cy="8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495" y="75933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Research Question and Thesis Claim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03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 i="0">
                <a:solidFill>
                  <a:srgbClr val="2B8C8B"/>
                </a:solidFill>
                <a:latin typeface="Aptos"/>
              </a:defRPr>
            </a:pPr>
            <a:r>
              <a:rPr sz="1500" b="1" i="0">
                <a:solidFill>
                  <a:schemeClr val="accent1"/>
                </a:solidFill>
                <a:latin typeface="Aptos"/>
              </a:rPr>
              <a:t>Research question</a:t>
            </a:r>
            <a:endParaRPr sz="1500" b="1" i="0">
              <a:solidFill>
                <a:schemeClr val="accent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719072"/>
            <a:ext cx="617220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200" b="1" i="0">
                <a:solidFill>
                  <a:srgbClr val="12223F"/>
                </a:solidFill>
                <a:latin typeface="Aptos"/>
              </a:defRPr>
            </a:pPr>
            <a:r>
              <a:rPr sz="2200" b="1" i="0">
                <a:solidFill>
                  <a:srgbClr val="12223F"/>
                </a:solidFill>
                <a:latin typeface="Aptos"/>
              </a:rPr>
              <a:t>Can a lightweight classifier identify the temporal reasoning type, route the question to a category-specific prompt, and use fallback on low-confidence cases to improve final QA accuracy?</a:t>
            </a:r>
            <a:endParaRPr sz="22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447415"/>
            <a:ext cx="20116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 i="0">
                <a:solidFill>
                  <a:srgbClr val="2B8C8B"/>
                </a:solidFill>
                <a:latin typeface="Aptos"/>
              </a:defRPr>
            </a:pPr>
            <a:r>
              <a:rPr sz="1500" b="1" i="0">
                <a:solidFill>
                  <a:schemeClr val="accent1"/>
                </a:solidFill>
                <a:latin typeface="Aptos"/>
              </a:rPr>
              <a:t>Thesis claim</a:t>
            </a:r>
            <a:endParaRPr sz="1500" b="1" i="0">
              <a:solidFill>
                <a:schemeClr val="accent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8"/>
            <a:ext cx="6080760" cy="1600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50" b="0">
                <a:solidFill>
                  <a:srgbClr val="374151"/>
                </a:solidFill>
                <a:latin typeface="Aptos"/>
              </a:defRPr>
            </a:pPr>
            <a:r>
              <a:t>• Routing is useful because temporal tasks are structurally heterogeneous.</a:t>
            </a:r>
          </a:p>
          <a:p>
            <a:pPr>
              <a:spcAft>
                <a:spcPts val="700"/>
              </a:spcAft>
              <a:defRPr sz="1750" b="0">
                <a:solidFill>
                  <a:srgbClr val="374151"/>
                </a:solidFill>
                <a:latin typeface="Aptos"/>
              </a:defRPr>
            </a:pPr>
            <a:r>
              <a:t>• Fallback is useful because classifier confidence can act as a risk signal.</a:t>
            </a:r>
          </a:p>
          <a:p>
            <a:pPr>
              <a:spcAft>
                <a:spcPts val="700"/>
              </a:spcAft>
              <a:defRPr sz="1750" b="0">
                <a:solidFill>
                  <a:srgbClr val="374151"/>
                </a:solidFill>
                <a:latin typeface="Aptos"/>
              </a:defRPr>
            </a:pPr>
            <a:r>
              <a:t>• Evaluation normalization is necessary to separate genuine reasoning errors from answer-format artifacts.</a:t>
            </a:r>
          </a:p>
        </p:txBody>
      </p:sp>
      <p:pic>
        <p:nvPicPr>
          <p:cNvPr id="19" name="图片 18" descr="G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17320"/>
            <a:ext cx="5036820" cy="3783965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sp>
          <p:nvSpPr>
            <p:cNvPr id="26" name="TextBox 1"/>
            <p:cNvSpPr txBox="1"/>
            <p:nvPr/>
          </p:nvSpPr>
          <p:spPr>
            <a:xfrm>
              <a:off x="4392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1">
                  <a:solidFill>
                    <a:srgbClr val="0070C0"/>
                  </a:solidFill>
                  <a:latin typeface="Arial" panose="020B0604020202020204"/>
                </a:defRPr>
              </a:pPr>
              <a:r>
                <a:t>Research Background</a:t>
              </a:r>
            </a:p>
          </p:txBody>
        </p:sp>
        <p:cxnSp>
          <p:nvCxnSpPr>
            <p:cNvPr id="27" name="Connector 2"/>
            <p:cNvCxnSpPr/>
            <p:nvPr/>
          </p:nvCxnSpPr>
          <p:spPr>
            <a:xfrm>
              <a:off x="4565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"/>
            <p:cNvSpPr txBox="1"/>
            <p:nvPr/>
          </p:nvSpPr>
          <p:spPr>
            <a:xfrm>
              <a:off x="7128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Method Design</a:t>
              </a:r>
            </a:p>
          </p:txBody>
        </p:sp>
        <p:sp>
          <p:nvSpPr>
            <p:cNvPr id="29" name="TextBox 4"/>
            <p:cNvSpPr txBox="1"/>
            <p:nvPr/>
          </p:nvSpPr>
          <p:spPr>
            <a:xfrm>
              <a:off x="9864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Experimental Validation</a:t>
              </a:r>
            </a:p>
          </p:txBody>
        </p:sp>
        <p:sp>
          <p:nvSpPr>
            <p:cNvPr id="30" name="TextBox 5"/>
            <p:cNvSpPr txBox="1"/>
            <p:nvPr/>
          </p:nvSpPr>
          <p:spPr>
            <a:xfrm>
              <a:off x="12600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Error Analysis</a:t>
              </a:r>
            </a:p>
          </p:txBody>
        </p:sp>
        <p:sp>
          <p:nvSpPr>
            <p:cNvPr id="31" name="TextBox 6"/>
            <p:cNvSpPr txBox="1"/>
            <p:nvPr/>
          </p:nvSpPr>
          <p:spPr>
            <a:xfrm>
              <a:off x="15336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Conclusion</a:t>
              </a:r>
            </a:p>
          </p:txBody>
        </p:sp>
        <p:cxnSp>
          <p:nvCxnSpPr>
            <p:cNvPr id="33" name="Connector 7"/>
            <p:cNvCxnSpPr/>
            <p:nvPr/>
          </p:nvCxnSpPr>
          <p:spPr>
            <a:xfrm>
              <a:off x="792" y="1080"/>
              <a:ext cx="16704" cy="0"/>
            </a:xfrm>
            <a:prstGeom prst="line">
              <a:avLst/>
            </a:prstGeom>
            <a:ln w="10160">
              <a:solidFill>
                <a:srgbClr val="E6EA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" y="191"/>
              <a:ext cx="2608" cy="8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58495" y="708533"/>
            <a:ext cx="1088136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Contributions</a:t>
            </a:r>
            <a:endParaRPr sz="30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04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-635" y="0"/>
            <a:ext cx="12191695" cy="6858000"/>
            <a:chOff x="-24" y="283"/>
            <a:chExt cx="19200" cy="10800"/>
          </a:xfrm>
        </p:grpSpPr>
        <p:sp>
          <p:nvSpPr>
            <p:cNvPr id="2" name="Rectangle 1"/>
            <p:cNvSpPr/>
            <p:nvPr/>
          </p:nvSpPr>
          <p:spPr>
            <a:xfrm>
              <a:off x="-24" y="283"/>
              <a:ext cx="19200" cy="108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16"/>
            <p:cNvSpPr/>
            <p:nvPr/>
          </p:nvSpPr>
          <p:spPr>
            <a:xfrm>
              <a:off x="1296" y="2261"/>
              <a:ext cx="16560" cy="104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656" y="2491"/>
              <a:ext cx="4896" cy="443"/>
            </a:xfrm>
            <a:prstGeom prst="rect">
              <a:avLst/>
            </a:prstGeom>
            <a:noFill/>
          </p:spPr>
          <p:txBody>
            <a:bodyPr wrap="square" lIns="27432" tIns="18288" rIns="27432" bIns="18288">
              <a:spAutoFit/>
            </a:bodyPr>
            <a:lstStyle/>
            <a:p>
              <a:pPr>
                <a:defRPr sz="1700" b="1" i="0">
                  <a:solidFill>
                    <a:srgbClr val="12223F"/>
                  </a:solidFill>
                  <a:latin typeface="Aptos"/>
                </a:defRPr>
              </a:pPr>
              <a:r>
                <a:rPr sz="1600" b="1" i="0">
                  <a:solidFill>
                    <a:srgbClr val="12223F"/>
                  </a:solidFill>
                  <a:latin typeface="Aptos"/>
                </a:rPr>
                <a:t>1. Classifier-driven routing</a:t>
              </a:r>
              <a:endParaRPr sz="1600" b="1" i="0">
                <a:solidFill>
                  <a:srgbClr val="12223F"/>
                </a:solidFill>
                <a:latin typeface="Apto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08" y="2491"/>
              <a:ext cx="10440" cy="734"/>
            </a:xfrm>
            <a:prstGeom prst="rect">
              <a:avLst/>
            </a:prstGeom>
            <a:noFill/>
          </p:spPr>
          <p:txBody>
            <a:bodyPr wrap="square" lIns="27432" tIns="18288" rIns="27432" bIns="18288">
              <a:spAutoFit/>
            </a:bodyPr>
            <a:lstStyle/>
            <a:p>
              <a:pPr>
                <a:defRPr sz="1550" b="0" i="0">
                  <a:solidFill>
                    <a:srgbClr val="374151"/>
                  </a:solidFill>
                  <a:latin typeface="Aptos"/>
                </a:defRPr>
              </a:pPr>
              <a:r>
                <a:rPr sz="1400" b="0" i="0">
                  <a:solidFill>
                    <a:srgbClr val="374151"/>
                  </a:solidFill>
                  <a:latin typeface="Aptos"/>
                </a:rPr>
                <a:t>A TF-IDF + Logistic Regression classifier predicts task type probabilities and routes each query to a category-specific prompt.</a:t>
              </a:r>
              <a:endParaRPr sz="1400" b="0" i="0">
                <a:solidFill>
                  <a:srgbClr val="374151"/>
                </a:solidFill>
                <a:latin typeface="Aptos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rcRect t="1707" r="538" b="18205"/>
          <a:stretch>
            <a:fillRect/>
          </a:stretch>
        </p:blipFill>
        <p:spPr>
          <a:xfrm>
            <a:off x="1690370" y="2299970"/>
            <a:ext cx="8365490" cy="3791585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 rot="0">
            <a:off x="341630" y="1967230"/>
            <a:ext cx="3569335" cy="1516380"/>
            <a:chOff x="1296" y="4218"/>
            <a:chExt cx="18684" cy="2637"/>
          </a:xfrm>
        </p:grpSpPr>
        <p:sp>
          <p:nvSpPr>
            <p:cNvPr id="13" name="Rounded Rectangle 12"/>
            <p:cNvSpPr/>
            <p:nvPr/>
          </p:nvSpPr>
          <p:spPr>
            <a:xfrm>
              <a:off x="1296" y="4218"/>
              <a:ext cx="15746" cy="263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95" y="4372"/>
              <a:ext cx="18285" cy="382"/>
            </a:xfrm>
            <a:prstGeom prst="rect">
              <a:avLst/>
            </a:prstGeom>
            <a:noFill/>
          </p:spPr>
          <p:txBody>
            <a:bodyPr wrap="square" lIns="27432" tIns="18288" rIns="27432" bIns="18288">
              <a:spAutoFit/>
            </a:bodyPr>
            <a:lstStyle/>
            <a:p>
              <a:pPr>
                <a:defRPr sz="1700" b="1" i="0">
                  <a:solidFill>
                    <a:srgbClr val="12223F"/>
                  </a:solidFill>
                  <a:latin typeface="Aptos"/>
                </a:defRPr>
              </a:pPr>
              <a:r>
                <a:rPr sz="1200" b="1" i="0">
                  <a:solidFill>
                    <a:srgbClr val="12223F"/>
                  </a:solidFill>
                  <a:latin typeface="Aptos"/>
                </a:rPr>
                <a:t>2. Auditable evaluation no</a:t>
              </a:r>
              <a:r>
                <a:rPr lang="en-US" sz="1200" b="1" i="0">
                  <a:solidFill>
                    <a:srgbClr val="12223F"/>
                  </a:solidFill>
                  <a:latin typeface="Aptos"/>
                </a:rPr>
                <a:t>rmalization                   </a:t>
              </a:r>
              <a:endParaRPr lang="en-US" sz="1200" b="1" i="0">
                <a:solidFill>
                  <a:srgbClr val="12223F"/>
                </a:solidFill>
                <a:latin typeface="Apto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3" y="4779"/>
              <a:ext cx="12827" cy="1346"/>
            </a:xfrm>
            <a:prstGeom prst="rect">
              <a:avLst/>
            </a:prstGeom>
            <a:noFill/>
          </p:spPr>
          <p:txBody>
            <a:bodyPr wrap="square" lIns="27432" tIns="18288" rIns="27432" bIns="18288">
              <a:spAutoFit/>
            </a:bodyPr>
            <a:lstStyle/>
            <a:p>
              <a:pPr>
                <a:defRPr sz="1550" b="0" i="0">
                  <a:solidFill>
                    <a:srgbClr val="374151"/>
                  </a:solidFill>
                  <a:latin typeface="Aptos"/>
                </a:defRPr>
              </a:pPr>
              <a:r>
                <a:rPr lang="en-US" sz="1200" b="0" i="0">
                  <a:solidFill>
                    <a:srgbClr val="374151"/>
                  </a:solidFill>
                  <a:latin typeface="Aptos"/>
                </a:rPr>
                <a:t>R</a:t>
              </a:r>
              <a:r>
                <a:rPr sz="1200" b="0" i="0">
                  <a:solidFill>
                    <a:srgbClr val="374151"/>
                  </a:solidFill>
                  <a:latin typeface="Aptos"/>
                </a:rPr>
                <a:t>uleset v1.1 performs category-sensitive equivalence normalization at scoring time while leaving original gold answers unchanged.</a:t>
              </a:r>
              <a:endParaRPr sz="1200" b="0" i="0">
                <a:solidFill>
                  <a:srgbClr val="374151"/>
                </a:solidFill>
                <a:latin typeface="Apto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 rot="0">
            <a:off x="8662670" y="1958975"/>
            <a:ext cx="3447415" cy="1285240"/>
            <a:chOff x="1761" y="6372"/>
            <a:chExt cx="16062" cy="3095"/>
          </a:xfrm>
        </p:grpSpPr>
        <p:sp>
          <p:nvSpPr>
            <p:cNvPr id="17" name="Rounded Rectangle 16"/>
            <p:cNvSpPr/>
            <p:nvPr/>
          </p:nvSpPr>
          <p:spPr>
            <a:xfrm>
              <a:off x="1761" y="6372"/>
              <a:ext cx="16062" cy="309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94" y="6664"/>
              <a:ext cx="15007" cy="529"/>
            </a:xfrm>
            <a:prstGeom prst="rect">
              <a:avLst/>
            </a:prstGeom>
            <a:noFill/>
          </p:spPr>
          <p:txBody>
            <a:bodyPr wrap="square" lIns="27432" tIns="18288" rIns="27432" bIns="18288">
              <a:spAutoFit/>
            </a:bodyPr>
            <a:lstStyle/>
            <a:p>
              <a:pPr>
                <a:defRPr sz="1700" b="1" i="0">
                  <a:solidFill>
                    <a:srgbClr val="12223F"/>
                  </a:solidFill>
                  <a:latin typeface="Aptos"/>
                </a:defRPr>
              </a:pPr>
              <a:r>
                <a:rPr sz="1200" b="1" i="0">
                  <a:solidFill>
                    <a:srgbClr val="12223F"/>
                  </a:solidFill>
                  <a:latin typeface="Aptos"/>
                </a:rPr>
                <a:t>3. Corrected error-surface diagnosis</a:t>
              </a:r>
              <a:endParaRPr sz="1200" b="1" i="0">
                <a:solidFill>
                  <a:srgbClr val="12223F"/>
                </a:solidFill>
                <a:latin typeface="Apto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481" y="7338"/>
              <a:ext cx="14876" cy="1419"/>
            </a:xfrm>
            <a:prstGeom prst="rect">
              <a:avLst/>
            </a:prstGeom>
            <a:noFill/>
          </p:spPr>
          <p:txBody>
            <a:bodyPr wrap="square" lIns="27432" tIns="18288" rIns="27432" bIns="18288">
              <a:spAutoFit/>
            </a:bodyPr>
            <a:lstStyle/>
            <a:p>
              <a:pPr>
                <a:defRPr sz="1550" b="0" i="0">
                  <a:solidFill>
                    <a:srgbClr val="374151"/>
                  </a:solidFill>
                  <a:latin typeface="Aptos"/>
                </a:defRPr>
              </a:pPr>
              <a:r>
                <a:rPr sz="1200" b="0" i="0">
                  <a:solidFill>
                    <a:srgbClr val="374151"/>
                  </a:solidFill>
                  <a:latin typeface="Aptos"/>
                </a:rPr>
                <a:t>The analysis identifies the remaining post-normalization bottlenecks: Date Computation, Time Zone Conversion, and Hour24.</a:t>
              </a:r>
              <a:endParaRPr sz="1200" b="0" i="0">
                <a:solidFill>
                  <a:srgbClr val="374151"/>
                </a:solidFill>
                <a:latin typeface="Apto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sp>
          <p:nvSpPr>
            <p:cNvPr id="26" name="TextBox 1"/>
            <p:cNvSpPr txBox="1"/>
            <p:nvPr/>
          </p:nvSpPr>
          <p:spPr>
            <a:xfrm>
              <a:off x="4392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1">
                  <a:solidFill>
                    <a:srgbClr val="0070C0"/>
                  </a:solidFill>
                  <a:latin typeface="Arial" panose="020B0604020202020204"/>
                </a:defRPr>
              </a:pPr>
              <a:r>
                <a:t>Research Background</a:t>
              </a:r>
            </a:p>
          </p:txBody>
        </p:sp>
        <p:cxnSp>
          <p:nvCxnSpPr>
            <p:cNvPr id="27" name="Connector 2"/>
            <p:cNvCxnSpPr/>
            <p:nvPr/>
          </p:nvCxnSpPr>
          <p:spPr>
            <a:xfrm>
              <a:off x="4565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"/>
            <p:cNvSpPr txBox="1"/>
            <p:nvPr/>
          </p:nvSpPr>
          <p:spPr>
            <a:xfrm>
              <a:off x="7128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Method Design</a:t>
              </a:r>
            </a:p>
          </p:txBody>
        </p:sp>
        <p:sp>
          <p:nvSpPr>
            <p:cNvPr id="29" name="TextBox 4"/>
            <p:cNvSpPr txBox="1"/>
            <p:nvPr/>
          </p:nvSpPr>
          <p:spPr>
            <a:xfrm>
              <a:off x="9864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Experimental Validation</a:t>
              </a:r>
            </a:p>
          </p:txBody>
        </p:sp>
        <p:sp>
          <p:nvSpPr>
            <p:cNvPr id="30" name="TextBox 5"/>
            <p:cNvSpPr txBox="1"/>
            <p:nvPr/>
          </p:nvSpPr>
          <p:spPr>
            <a:xfrm>
              <a:off x="12600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Error Analysis</a:t>
              </a:r>
            </a:p>
          </p:txBody>
        </p:sp>
        <p:sp>
          <p:nvSpPr>
            <p:cNvPr id="31" name="TextBox 6"/>
            <p:cNvSpPr txBox="1"/>
            <p:nvPr/>
          </p:nvSpPr>
          <p:spPr>
            <a:xfrm>
              <a:off x="15336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t>Conclusion</a:t>
              </a:r>
            </a:p>
          </p:txBody>
        </p:sp>
        <p:cxnSp>
          <p:nvCxnSpPr>
            <p:cNvPr id="33" name="Connector 7"/>
            <p:cNvCxnSpPr/>
            <p:nvPr/>
          </p:nvCxnSpPr>
          <p:spPr>
            <a:xfrm>
              <a:off x="792" y="1080"/>
              <a:ext cx="16704" cy="0"/>
            </a:xfrm>
            <a:prstGeom prst="line">
              <a:avLst/>
            </a:prstGeom>
            <a:ln w="10160">
              <a:solidFill>
                <a:srgbClr val="E6EA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" y="191"/>
              <a:ext cx="2608" cy="897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3970" y="-2540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495" y="73647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lang="en-US" sz="2800" b="1" i="0">
                <a:solidFill>
                  <a:srgbClr val="12223F"/>
                </a:solidFill>
                <a:latin typeface="Aptos"/>
              </a:rPr>
              <a:t>Classifier</a:t>
            </a:r>
            <a:r>
              <a:rPr sz="2800" b="1" i="0">
                <a:solidFill>
                  <a:srgbClr val="12223F"/>
                </a:solidFill>
                <a:latin typeface="Aptos"/>
              </a:rPr>
              <a:t> Overview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05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495" y="1478280"/>
            <a:ext cx="3701415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The router does not modify LLM parameters.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Confidence is defined as the maximum predicted class probability.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Fallback targets risk control rather than additional inference calls.</a:t>
            </a:r>
          </a:p>
        </p:txBody>
      </p:sp>
      <p:sp>
        <p:nvSpPr>
          <p:cNvPr id="49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grpSp>
          <p:nvGrpSpPr>
            <p:cNvPr id="40" name="组合 39"/>
            <p:cNvGrpSpPr/>
            <p:nvPr/>
          </p:nvGrpSpPr>
          <p:grpSpPr>
            <a:xfrm>
              <a:off x="792" y="191"/>
              <a:ext cx="16920" cy="897"/>
              <a:chOff x="792" y="191"/>
              <a:chExt cx="16920" cy="897"/>
            </a:xfrm>
          </p:grpSpPr>
          <p:sp>
            <p:nvSpPr>
              <p:cNvPr id="41" name="TextBox 1"/>
              <p:cNvSpPr txBox="1"/>
              <p:nvPr/>
            </p:nvSpPr>
            <p:spPr>
              <a:xfrm>
                <a:off x="4392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1">
                    <a:solidFill>
                      <a:srgbClr val="0070C0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tx1"/>
                    </a:solidFill>
                  </a:rPr>
                  <a:t>Research Background</a:t>
                </a: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TextBox 3"/>
              <p:cNvSpPr txBox="1"/>
              <p:nvPr/>
            </p:nvSpPr>
            <p:spPr>
              <a:xfrm>
                <a:off x="7128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rgbClr val="0070C0"/>
                    </a:solidFill>
                  </a:rPr>
                  <a:t>Method Design</a:t>
                </a:r>
                <a:endParaRPr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TextBox 4"/>
              <p:cNvSpPr txBox="1"/>
              <p:nvPr/>
            </p:nvSpPr>
            <p:spPr>
              <a:xfrm>
                <a:off x="9864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Experimental Validation</a:t>
                </a:r>
              </a:p>
            </p:txBody>
          </p:sp>
          <p:sp>
            <p:nvSpPr>
              <p:cNvPr id="45" name="TextBox 5"/>
              <p:cNvSpPr txBox="1"/>
              <p:nvPr/>
            </p:nvSpPr>
            <p:spPr>
              <a:xfrm>
                <a:off x="12600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Error Analysis</a:t>
                </a:r>
              </a:p>
            </p:txBody>
          </p:sp>
          <p:sp>
            <p:nvSpPr>
              <p:cNvPr id="46" name="TextBox 6"/>
              <p:cNvSpPr txBox="1"/>
              <p:nvPr/>
            </p:nvSpPr>
            <p:spPr>
              <a:xfrm>
                <a:off x="15336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Conclusion</a:t>
                </a:r>
              </a:p>
            </p:txBody>
          </p:sp>
          <p:cxnSp>
            <p:nvCxnSpPr>
              <p:cNvPr id="47" name="Connector 7"/>
              <p:cNvCxnSpPr/>
              <p:nvPr/>
            </p:nvCxnSpPr>
            <p:spPr>
              <a:xfrm>
                <a:off x="792" y="1080"/>
                <a:ext cx="16704" cy="0"/>
              </a:xfrm>
              <a:prstGeom prst="line">
                <a:avLst/>
              </a:prstGeom>
              <a:ln w="10160">
                <a:solidFill>
                  <a:srgbClr val="E6EAE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图片 4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" y="191"/>
                <a:ext cx="2608" cy="897"/>
              </a:xfrm>
              <a:prstGeom prst="rect">
                <a:avLst/>
              </a:prstGeom>
            </p:spPr>
          </p:pic>
        </p:grpSp>
        <p:cxnSp>
          <p:nvCxnSpPr>
            <p:cNvPr id="53" name="Connector 3"/>
            <p:cNvCxnSpPr/>
            <p:nvPr/>
          </p:nvCxnSpPr>
          <p:spPr>
            <a:xfrm>
              <a:off x="7301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图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31850"/>
            <a:ext cx="6922770" cy="5192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393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Evaluation Protocol: ruleset v1.1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06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353312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 i="0">
                <a:solidFill>
                  <a:srgbClr val="2B8C8B"/>
                </a:solidFill>
                <a:latin typeface="Aptos"/>
              </a:defRPr>
            </a:pPr>
            <a:r>
              <a:rPr sz="1400" b="1" i="0">
                <a:solidFill>
                  <a:schemeClr val="accent1"/>
                </a:solidFill>
                <a:latin typeface="Aptos"/>
              </a:rPr>
              <a:t>Key principle</a:t>
            </a:r>
            <a:endParaRPr sz="1400" b="1" i="0">
              <a:solidFill>
                <a:schemeClr val="accent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6126480" cy="7498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300" b="1" i="0">
                <a:solidFill>
                  <a:srgbClr val="12223F"/>
                </a:solidFill>
                <a:latin typeface="Aptos"/>
              </a:defRPr>
            </a:pPr>
            <a:r>
              <a:rPr sz="2300" b="1" i="0">
                <a:solidFill>
                  <a:srgbClr val="12223F"/>
                </a:solidFill>
                <a:latin typeface="Aptos"/>
              </a:rPr>
              <a:t>Normalize equivalent answer formats only at scoring time; do not rewrite the original gold labels.</a:t>
            </a:r>
            <a:endParaRPr sz="23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5897880" cy="1508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The corrected metric is the formal reporting standard.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Base accuracy remains useful for audit, not for final ranking.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Corrected gains should be interpreted as measurement correction, not as a new model improvement.</a:t>
            </a:r>
          </a:p>
        </p:txBody>
      </p:sp>
      <p:pic>
        <p:nvPicPr>
          <p:cNvPr id="27" name="图片 26" descr="S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55" y="4349750"/>
            <a:ext cx="8772525" cy="1857375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>
            <a:off x="6793865" y="2305050"/>
            <a:ext cx="5264785" cy="685800"/>
            <a:chOff x="10338" y="3630"/>
            <a:chExt cx="8291" cy="1080"/>
          </a:xfrm>
        </p:grpSpPr>
        <p:cxnSp>
          <p:nvCxnSpPr>
            <p:cNvPr id="14" name="Connector 13"/>
            <p:cNvCxnSpPr/>
            <p:nvPr/>
          </p:nvCxnSpPr>
          <p:spPr>
            <a:xfrm>
              <a:off x="13321" y="4165"/>
              <a:ext cx="1296" cy="0"/>
            </a:xfrm>
            <a:prstGeom prst="line">
              <a:avLst/>
            </a:prstGeom>
            <a:ln w="19050">
              <a:solidFill>
                <a:srgbClr val="6874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14605" y="3630"/>
              <a:ext cx="3953" cy="1080"/>
            </a:xfrm>
            <a:prstGeom prst="roundRect">
              <a:avLst/>
            </a:prstGeom>
            <a:solidFill>
              <a:srgbClr val="E0F3F0"/>
            </a:solidFill>
            <a:ln w="12700">
              <a:solidFill>
                <a:srgbClr val="2B8C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534" y="3815"/>
              <a:ext cx="4095" cy="710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>
                <a:defRPr sz="1350" b="1" i="0">
                  <a:solidFill>
                    <a:srgbClr val="2B8C8B"/>
                  </a:solidFill>
                  <a:latin typeface="Aptos"/>
                </a:defRPr>
              </a:pPr>
              <a:r>
                <a:rPr sz="1350" b="1" i="0">
                  <a:solidFill>
                    <a:srgbClr val="2B8C8B"/>
                  </a:solidFill>
                  <a:latin typeface="Aptos"/>
                </a:rPr>
                <a:t>ruleset v1.1</a:t>
              </a:r>
              <a:br>
                <a:rPr sz="1350" b="1" i="0">
                  <a:solidFill>
                    <a:srgbClr val="2B8C8B"/>
                  </a:solidFill>
                  <a:latin typeface="Aptos"/>
                </a:rPr>
              </a:br>
              <a:r>
                <a:rPr sz="1350" b="1" i="0">
                  <a:solidFill>
                    <a:srgbClr val="2B8C8B"/>
                  </a:solidFill>
                  <a:latin typeface="Aptos"/>
                </a:rPr>
                <a:t>category-aware normalization</a:t>
              </a:r>
              <a:endParaRPr sz="1350" b="1" i="0">
                <a:solidFill>
                  <a:srgbClr val="2B8C8B"/>
                </a:solidFill>
                <a:latin typeface="Aptos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338" y="3630"/>
              <a:ext cx="3456" cy="1080"/>
            </a:xfrm>
            <a:prstGeom prst="roundRect">
              <a:avLst/>
            </a:prstGeom>
            <a:solidFill>
              <a:srgbClr val="F8ECEC"/>
            </a:solidFill>
            <a:ln w="12700">
              <a:solidFill>
                <a:srgbClr val="A636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53" y="3774"/>
              <a:ext cx="3226" cy="792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>
                <a:defRPr sz="1350" b="1" i="0">
                  <a:solidFill>
                    <a:srgbClr val="A63636"/>
                  </a:solidFill>
                  <a:latin typeface="Aptos"/>
                </a:defRPr>
              </a:pPr>
              <a:r>
                <a:rPr sz="1350" b="1" i="0">
                  <a:solidFill>
                    <a:srgbClr val="A63636"/>
                  </a:solidFill>
                  <a:latin typeface="Aptos"/>
                </a:rPr>
                <a:t>Base scorer</a:t>
              </a:r>
              <a:br>
                <a:rPr sz="1350" b="1" i="0">
                  <a:solidFill>
                    <a:srgbClr val="A63636"/>
                  </a:solidFill>
                  <a:latin typeface="Aptos"/>
                </a:rPr>
              </a:br>
              <a:r>
                <a:rPr sz="1350" b="1" i="0">
                  <a:solidFill>
                    <a:srgbClr val="A63636"/>
                  </a:solidFill>
                  <a:latin typeface="Aptos"/>
                </a:rPr>
                <a:t>strict string match</a:t>
              </a:r>
              <a:endParaRPr sz="1350" b="1" i="0">
                <a:solidFill>
                  <a:srgbClr val="A63636"/>
                </a:solidFill>
                <a:latin typeface="Aptos"/>
              </a:endParaRPr>
            </a:p>
          </p:txBody>
        </p:sp>
      </p:grpSp>
      <p:sp>
        <p:nvSpPr>
          <p:cNvPr id="37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grpSp>
          <p:nvGrpSpPr>
            <p:cNvPr id="66" name="组合 65"/>
            <p:cNvGrpSpPr/>
            <p:nvPr/>
          </p:nvGrpSpPr>
          <p:grpSpPr>
            <a:xfrm rot="0">
              <a:off x="792" y="191"/>
              <a:ext cx="16920" cy="897"/>
              <a:chOff x="792" y="191"/>
              <a:chExt cx="16920" cy="897"/>
            </a:xfrm>
          </p:grpSpPr>
          <p:sp>
            <p:nvSpPr>
              <p:cNvPr id="67" name="TextBox 1"/>
              <p:cNvSpPr txBox="1"/>
              <p:nvPr/>
            </p:nvSpPr>
            <p:spPr>
              <a:xfrm>
                <a:off x="4392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1">
                    <a:solidFill>
                      <a:srgbClr val="0070C0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tx1"/>
                    </a:solidFill>
                  </a:rPr>
                  <a:t>Research Background</a:t>
                </a: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TextBox 3"/>
              <p:cNvSpPr txBox="1"/>
              <p:nvPr/>
            </p:nvSpPr>
            <p:spPr>
              <a:xfrm>
                <a:off x="7128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Method Design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TextBox 4"/>
              <p:cNvSpPr txBox="1"/>
              <p:nvPr/>
            </p:nvSpPr>
            <p:spPr>
              <a:xfrm>
                <a:off x="9864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accent1">
                        <a:lumMod val="75000"/>
                      </a:schemeClr>
                    </a:solidFill>
                  </a:rPr>
                  <a:t>Experimental Validation</a:t>
                </a:r>
                <a:endParaRPr b="1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0" name="TextBox 5"/>
              <p:cNvSpPr txBox="1"/>
              <p:nvPr/>
            </p:nvSpPr>
            <p:spPr>
              <a:xfrm>
                <a:off x="12600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Error Analysis</a:t>
                </a:r>
              </a:p>
            </p:txBody>
          </p:sp>
          <p:sp>
            <p:nvSpPr>
              <p:cNvPr id="71" name="TextBox 6"/>
              <p:cNvSpPr txBox="1"/>
              <p:nvPr/>
            </p:nvSpPr>
            <p:spPr>
              <a:xfrm>
                <a:off x="15336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Conclusion</a:t>
                </a:r>
              </a:p>
            </p:txBody>
          </p:sp>
          <p:cxnSp>
            <p:nvCxnSpPr>
              <p:cNvPr id="72" name="Connector 7"/>
              <p:cNvCxnSpPr/>
              <p:nvPr/>
            </p:nvCxnSpPr>
            <p:spPr>
              <a:xfrm>
                <a:off x="792" y="1080"/>
                <a:ext cx="16704" cy="0"/>
              </a:xfrm>
              <a:prstGeom prst="line">
                <a:avLst/>
              </a:prstGeom>
              <a:ln w="10160">
                <a:solidFill>
                  <a:srgbClr val="E6EAE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3" name="图片 7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" y="191"/>
                <a:ext cx="2608" cy="897"/>
              </a:xfrm>
              <a:prstGeom prst="rect">
                <a:avLst/>
              </a:prstGeom>
            </p:spPr>
          </p:pic>
        </p:grpSp>
        <p:cxnSp>
          <p:nvCxnSpPr>
            <p:cNvPr id="75" name="Connector 4"/>
            <p:cNvCxnSpPr/>
            <p:nvPr/>
          </p:nvCxnSpPr>
          <p:spPr>
            <a:xfrm>
              <a:off x="10037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2250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Main Results: Corrected Accuracy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07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393824"/>
            <a:ext cx="52120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 i="0">
                <a:solidFill>
                  <a:srgbClr val="12223F"/>
                </a:solidFill>
                <a:latin typeface="Aptos"/>
              </a:defRPr>
            </a:pPr>
            <a:r>
              <a:rPr sz="1200" b="1" i="0">
                <a:solidFill>
                  <a:srgbClr val="12223F"/>
                </a:solidFill>
                <a:latin typeface="Aptos"/>
              </a:rPr>
              <a:t>Corrected accuracy by workflow</a:t>
            </a:r>
            <a:endParaRPr sz="12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721485"/>
            <a:ext cx="5067300" cy="30333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29384"/>
            <a:ext cx="121615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Fixed</a:t>
            </a:r>
            <a:endParaRPr sz="9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94560" y="1984248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1984248"/>
            <a:ext cx="2914231" cy="15544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93" y="1984629"/>
            <a:ext cx="594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0.7575</a:t>
            </a:r>
            <a:endParaRPr sz="90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5256" y="2592324"/>
            <a:ext cx="121615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CoT</a:t>
            </a:r>
            <a:endParaRPr sz="9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94560" y="2647188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2647188"/>
            <a:ext cx="2962321" cy="15544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033" y="2647569"/>
            <a:ext cx="594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0.7700</a:t>
            </a:r>
            <a:endParaRPr sz="90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5256" y="3255264"/>
            <a:ext cx="121615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Router</a:t>
            </a:r>
            <a:endParaRPr sz="9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194560" y="3310128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4560" y="3310128"/>
            <a:ext cx="2914231" cy="15544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1943" y="3310509"/>
            <a:ext cx="594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0.7575</a:t>
            </a:r>
            <a:endParaRPr sz="90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5256" y="3918204"/>
            <a:ext cx="121615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Router + FB</a:t>
            </a:r>
            <a:endParaRPr sz="9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194560" y="3973068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3973068"/>
            <a:ext cx="2981557" cy="15544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49904" y="3973449"/>
            <a:ext cx="594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0.7750</a:t>
            </a:r>
            <a:endParaRPr sz="90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63640" y="155448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1737360"/>
            <a:ext cx="177393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2B8C8B"/>
                </a:solidFill>
                <a:latin typeface="Aptos"/>
              </a:defRPr>
            </a:pPr>
            <a:r>
              <a:rPr sz="2800" b="1" i="0">
                <a:solidFill>
                  <a:srgbClr val="2B8C8B"/>
                </a:solidFill>
                <a:latin typeface="Aptos"/>
              </a:rPr>
              <a:t>0.7750</a:t>
            </a:r>
            <a:endParaRPr sz="2800" b="1" i="0">
              <a:solidFill>
                <a:srgbClr val="2B8C8B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75856" y="2221865"/>
            <a:ext cx="1773936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Strongest observed workflow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41080" y="155448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1737360"/>
            <a:ext cx="177393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275388"/>
                </a:solidFill>
                <a:latin typeface="Aptos"/>
              </a:defRPr>
            </a:pPr>
            <a:r>
              <a:rPr sz="2800" b="1" i="0">
                <a:solidFill>
                  <a:srgbClr val="275388"/>
                </a:solidFill>
                <a:latin typeface="Aptos"/>
              </a:rPr>
              <a:t>+0.0175</a:t>
            </a:r>
            <a:endParaRPr sz="2800" b="1" i="0">
              <a:solidFill>
                <a:srgbClr val="275388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05672" y="2331720"/>
            <a:ext cx="1773936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Gain over Router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63640" y="29718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3154680"/>
            <a:ext cx="177393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CA9B3C"/>
                </a:solidFill>
                <a:latin typeface="Aptos"/>
              </a:defRPr>
            </a:pPr>
            <a:r>
              <a:rPr sz="2800" b="1" i="0">
                <a:solidFill>
                  <a:srgbClr val="CA9B3C"/>
                </a:solidFill>
                <a:latin typeface="Aptos"/>
              </a:rPr>
              <a:t>1.0</a:t>
            </a:r>
            <a:endParaRPr sz="2800" b="1" i="0">
              <a:solidFill>
                <a:srgbClr val="CA9B3C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28231" y="3749039"/>
            <a:ext cx="1773936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Calls per query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641080" y="29718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00465" y="3195955"/>
            <a:ext cx="1864995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CA9B3C"/>
                </a:solidFill>
                <a:latin typeface="Aptos"/>
              </a:defRPr>
            </a:pPr>
            <a:r>
              <a:rPr sz="2800" b="1" i="0">
                <a:solidFill>
                  <a:srgbClr val="CA9B3C"/>
                </a:solidFill>
                <a:latin typeface="Aptos"/>
              </a:rPr>
              <a:t>5.25-5.37s</a:t>
            </a:r>
            <a:endParaRPr sz="2800" b="1" i="0">
              <a:solidFill>
                <a:srgbClr val="CA9B3C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05672" y="3749039"/>
            <a:ext cx="1773936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Latency range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8495" y="5051933"/>
            <a:ext cx="77724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Router + Fallback is the strongest observed workflow under the corrected metric.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The improvement does not come from increasing external LLM calls.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CoT remains a strong baseline, but it does not dominate the routed workflow.</a:t>
            </a:r>
          </a:p>
        </p:txBody>
      </p:sp>
      <p:pic>
        <p:nvPicPr>
          <p:cNvPr id="42" name="图片 41" descr="S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9240" y="4279265"/>
            <a:ext cx="4302125" cy="2427605"/>
          </a:xfrm>
          <a:prstGeom prst="rect">
            <a:avLst/>
          </a:prstGeom>
        </p:spPr>
      </p:pic>
      <p:sp>
        <p:nvSpPr>
          <p:cNvPr id="52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grpSp>
          <p:nvGrpSpPr>
            <p:cNvPr id="66" name="组合 65"/>
            <p:cNvGrpSpPr/>
            <p:nvPr/>
          </p:nvGrpSpPr>
          <p:grpSpPr>
            <a:xfrm rot="0">
              <a:off x="792" y="191"/>
              <a:ext cx="16920" cy="897"/>
              <a:chOff x="792" y="191"/>
              <a:chExt cx="16920" cy="897"/>
            </a:xfrm>
          </p:grpSpPr>
          <p:sp>
            <p:nvSpPr>
              <p:cNvPr id="67" name="TextBox 1"/>
              <p:cNvSpPr txBox="1"/>
              <p:nvPr/>
            </p:nvSpPr>
            <p:spPr>
              <a:xfrm>
                <a:off x="4392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1">
                    <a:solidFill>
                      <a:srgbClr val="0070C0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tx1"/>
                    </a:solidFill>
                  </a:rPr>
                  <a:t>Research Background</a:t>
                </a: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TextBox 3"/>
              <p:cNvSpPr txBox="1"/>
              <p:nvPr/>
            </p:nvSpPr>
            <p:spPr>
              <a:xfrm>
                <a:off x="7128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Method Design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TextBox 4"/>
              <p:cNvSpPr txBox="1"/>
              <p:nvPr/>
            </p:nvSpPr>
            <p:spPr>
              <a:xfrm>
                <a:off x="9864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accent1">
                        <a:lumMod val="75000"/>
                      </a:schemeClr>
                    </a:solidFill>
                  </a:rPr>
                  <a:t>Experimental Validation</a:t>
                </a:r>
                <a:endParaRPr b="1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0" name="TextBox 5"/>
              <p:cNvSpPr txBox="1"/>
              <p:nvPr/>
            </p:nvSpPr>
            <p:spPr>
              <a:xfrm>
                <a:off x="12600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Error Analysis</a:t>
                </a:r>
              </a:p>
            </p:txBody>
          </p:sp>
          <p:sp>
            <p:nvSpPr>
              <p:cNvPr id="71" name="TextBox 6"/>
              <p:cNvSpPr txBox="1"/>
              <p:nvPr/>
            </p:nvSpPr>
            <p:spPr>
              <a:xfrm>
                <a:off x="15336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Conclusion</a:t>
                </a:r>
              </a:p>
            </p:txBody>
          </p:sp>
          <p:cxnSp>
            <p:nvCxnSpPr>
              <p:cNvPr id="72" name="Connector 7"/>
              <p:cNvCxnSpPr/>
              <p:nvPr/>
            </p:nvCxnSpPr>
            <p:spPr>
              <a:xfrm>
                <a:off x="792" y="1080"/>
                <a:ext cx="16704" cy="0"/>
              </a:xfrm>
              <a:prstGeom prst="line">
                <a:avLst/>
              </a:prstGeom>
              <a:ln w="10160">
                <a:solidFill>
                  <a:srgbClr val="E6EAE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3" name="图片 7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" y="191"/>
                <a:ext cx="2608" cy="897"/>
              </a:xfrm>
              <a:prstGeom prst="rect">
                <a:avLst/>
              </a:prstGeom>
            </p:spPr>
          </p:pic>
        </p:grpSp>
        <p:cxnSp>
          <p:nvCxnSpPr>
            <p:cNvPr id="75" name="Connector 4"/>
            <p:cNvCxnSpPr/>
            <p:nvPr/>
          </p:nvCxnSpPr>
          <p:spPr>
            <a:xfrm>
              <a:off x="10037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78688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Base vs Corrected: What Changed?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08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70395" y="1183640"/>
          <a:ext cx="4928870" cy="2333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995"/>
                <a:gridCol w="976630"/>
                <a:gridCol w="1199515"/>
                <a:gridCol w="887730"/>
              </a:tblGrid>
              <a:tr h="466725">
                <a:tc>
                  <a:txBody>
                    <a:bodyPr/>
                    <a:lstStyle/>
                    <a:p>
                      <a:pPr algn="l"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Aptos"/>
                        </a:rPr>
                        <a:t>Workflow</a:t>
                      </a:r>
                      <a:endParaRPr sz="11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Aptos"/>
                        </a:rPr>
                        <a:t>Base</a:t>
                      </a:r>
                      <a:endParaRPr sz="11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Aptos"/>
                        </a:rPr>
                        <a:t>Corrected</a:t>
                      </a:r>
                      <a:endParaRPr sz="11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Aptos"/>
                        </a:rPr>
                        <a:t>Delta</a:t>
                      </a:r>
                      <a:endParaRPr sz="11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Fixed Prompt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0.6300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0.7575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+0.1275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CoT Prompt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0.6200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0.7700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+0.1500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Classifier Router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0.6075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0.7575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+0.1500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Router + Fallback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0.6250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0.7750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+0.1500</a:t>
                      </a:r>
                      <a:endParaRPr sz="112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60920" y="788670"/>
            <a:ext cx="32004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 i="0">
                <a:solidFill>
                  <a:srgbClr val="2B8C8B"/>
                </a:solidFill>
                <a:latin typeface="Aptos"/>
              </a:defRPr>
            </a:pPr>
            <a:r>
              <a:rPr sz="1400" b="1" i="0">
                <a:solidFill>
                  <a:srgbClr val="0070C0"/>
                </a:solidFill>
                <a:latin typeface="Aptos"/>
              </a:rPr>
              <a:t>Interpretive boundary</a:t>
            </a:r>
            <a:endParaRPr sz="1400" b="1" i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60920" y="3703320"/>
            <a:ext cx="3429000" cy="1508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374151"/>
                </a:solidFill>
                <a:latin typeface="Aptos"/>
              </a:defRPr>
            </a:pPr>
            <a:r>
              <a:t>• Formal comparison should use corrected results.</a:t>
            </a:r>
          </a:p>
          <a:p>
            <a:pPr>
              <a:spcAft>
                <a:spcPts val="700"/>
              </a:spcAft>
              <a:defRPr sz="1450" b="0">
                <a:solidFill>
                  <a:srgbClr val="374151"/>
                </a:solidFill>
                <a:latin typeface="Aptos"/>
              </a:defRPr>
            </a:pPr>
            <a:r>
              <a:t>• Base results remain useful for auditing scorer behavior.</a:t>
            </a:r>
          </a:p>
          <a:p>
            <a:pPr>
              <a:spcAft>
                <a:spcPts val="700"/>
              </a:spcAft>
              <a:defRPr sz="1450" b="0">
                <a:solidFill>
                  <a:srgbClr val="374151"/>
                </a:solidFill>
                <a:latin typeface="Aptos"/>
              </a:defRPr>
            </a:pPr>
            <a:r>
              <a:t>• A corrected oracle has not yet been computed, so headroom remains unquantified.</a:t>
            </a:r>
          </a:p>
        </p:txBody>
      </p:sp>
      <p:pic>
        <p:nvPicPr>
          <p:cNvPr id="11" name="图片 10" descr="S8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91310"/>
            <a:ext cx="4439285" cy="2157095"/>
          </a:xfrm>
          <a:prstGeom prst="rect">
            <a:avLst/>
          </a:prstGeom>
        </p:spPr>
      </p:pic>
      <p:pic>
        <p:nvPicPr>
          <p:cNvPr id="15" name="图片 14" descr="S8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743325"/>
            <a:ext cx="4455160" cy="2206625"/>
          </a:xfrm>
          <a:prstGeom prst="rect">
            <a:avLst/>
          </a:prstGeom>
        </p:spPr>
      </p:pic>
      <p:sp>
        <p:nvSpPr>
          <p:cNvPr id="16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grpSp>
          <p:nvGrpSpPr>
            <p:cNvPr id="66" name="组合 65"/>
            <p:cNvGrpSpPr/>
            <p:nvPr/>
          </p:nvGrpSpPr>
          <p:grpSpPr>
            <a:xfrm rot="0">
              <a:off x="792" y="191"/>
              <a:ext cx="16920" cy="897"/>
              <a:chOff x="792" y="191"/>
              <a:chExt cx="16920" cy="897"/>
            </a:xfrm>
          </p:grpSpPr>
          <p:sp>
            <p:nvSpPr>
              <p:cNvPr id="67" name="TextBox 1"/>
              <p:cNvSpPr txBox="1"/>
              <p:nvPr/>
            </p:nvSpPr>
            <p:spPr>
              <a:xfrm>
                <a:off x="4392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1">
                    <a:solidFill>
                      <a:srgbClr val="0070C0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tx1"/>
                    </a:solidFill>
                  </a:rPr>
                  <a:t>Research Background</a:t>
                </a: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TextBox 3"/>
              <p:cNvSpPr txBox="1"/>
              <p:nvPr/>
            </p:nvSpPr>
            <p:spPr>
              <a:xfrm>
                <a:off x="7128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Method Design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TextBox 4"/>
              <p:cNvSpPr txBox="1"/>
              <p:nvPr/>
            </p:nvSpPr>
            <p:spPr>
              <a:xfrm>
                <a:off x="9864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Experimental Validation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TextBox 5"/>
              <p:cNvSpPr txBox="1"/>
              <p:nvPr/>
            </p:nvSpPr>
            <p:spPr>
              <a:xfrm>
                <a:off x="12600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accent1">
                        <a:lumMod val="75000"/>
                      </a:schemeClr>
                    </a:solidFill>
                  </a:rPr>
                  <a:t>Error Analysis</a:t>
                </a:r>
                <a:endParaRPr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" name="TextBox 6"/>
              <p:cNvSpPr txBox="1"/>
              <p:nvPr/>
            </p:nvSpPr>
            <p:spPr>
              <a:xfrm>
                <a:off x="15336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Conclusion</a:t>
                </a:r>
              </a:p>
            </p:txBody>
          </p:sp>
          <p:cxnSp>
            <p:nvCxnSpPr>
              <p:cNvPr id="72" name="Connector 7"/>
              <p:cNvCxnSpPr/>
              <p:nvPr/>
            </p:nvCxnSpPr>
            <p:spPr>
              <a:xfrm>
                <a:off x="792" y="1080"/>
                <a:ext cx="16704" cy="0"/>
              </a:xfrm>
              <a:prstGeom prst="line">
                <a:avLst/>
              </a:prstGeom>
              <a:ln w="10160">
                <a:solidFill>
                  <a:srgbClr val="E6EAE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3" name="图片 7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" y="191"/>
                <a:ext cx="2608" cy="897"/>
              </a:xfrm>
              <a:prstGeom prst="rect">
                <a:avLst/>
              </a:prstGeom>
            </p:spPr>
          </p:pic>
        </p:grpSp>
        <p:cxnSp>
          <p:nvCxnSpPr>
            <p:cNvPr id="17" name="Connector 5"/>
            <p:cNvCxnSpPr/>
            <p:nvPr/>
          </p:nvCxnSpPr>
          <p:spPr>
            <a:xfrm>
              <a:off x="12773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076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Category-Level Findings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09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5615" y="1504950"/>
          <a:ext cx="7571105" cy="1924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/>
                <a:gridCol w="1475740"/>
                <a:gridCol w="1476375"/>
                <a:gridCol w="1475740"/>
                <a:gridCol w="1476375"/>
              </a:tblGrid>
              <a:tr h="38481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Category</a:t>
                      </a:r>
                      <a:endParaRPr sz="85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Fixed</a:t>
                      </a:r>
                      <a:endParaRPr sz="85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CoT</a:t>
                      </a:r>
                      <a:endParaRPr sz="85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Router</a:t>
                      </a:r>
                      <a:endParaRPr sz="85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Router + FB</a:t>
                      </a:r>
                      <a:endParaRPr sz="85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Date Computation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0.5265 → 0.7008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0.5076 → 0.7159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0.5038 → 0.7045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0.5265 → 0.7235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Hour Adjustment (24h)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0.9545 → 0.9545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0.9773 → 0.9773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0.8864 → 0.8864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0.9318 → 0.9318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Time Zone Conversion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0.0000 → 0.2000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0.0000 → 0.2000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0.0000 → 0.3000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0.0000 → 0.3000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Year Shift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1.0000 → 1.0000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1.0000 → 1.0000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1.0000 → 1.0000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1.0000 → 1.0000</a:t>
                      </a:r>
                      <a:endParaRPr sz="850" b="0">
                        <a:solidFill>
                          <a:srgbClr val="374151"/>
                        </a:solidFill>
                        <a:latin typeface="Aptos"/>
                      </a:endParaRP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3977639"/>
            <a:ext cx="6583680" cy="1554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Date Computation receives the largest normalization recovery but remains substantially below Hour24 and Year Shift.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Time Zone Conversion improves from zero under the base scorer but remains difficult after correction.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Year Shift is near ceiling in this slice; Hour24 errors appear to reflect real carry/borrow reasoning rather than formatting.</a:t>
            </a:r>
          </a:p>
        </p:txBody>
      </p:sp>
      <p:pic>
        <p:nvPicPr>
          <p:cNvPr id="17" name="图片 16" descr="S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236980"/>
            <a:ext cx="2977515" cy="4418330"/>
          </a:xfrm>
          <a:prstGeom prst="rect">
            <a:avLst/>
          </a:prstGeom>
        </p:spPr>
      </p:pic>
      <p:sp>
        <p:nvSpPr>
          <p:cNvPr id="18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grpSp>
          <p:nvGrpSpPr>
            <p:cNvPr id="20" name="组合 19"/>
            <p:cNvGrpSpPr/>
            <p:nvPr/>
          </p:nvGrpSpPr>
          <p:grpSpPr>
            <a:xfrm rot="0">
              <a:off x="792" y="191"/>
              <a:ext cx="16920" cy="897"/>
              <a:chOff x="792" y="191"/>
              <a:chExt cx="16920" cy="897"/>
            </a:xfrm>
          </p:grpSpPr>
          <p:sp>
            <p:nvSpPr>
              <p:cNvPr id="21" name="TextBox 1"/>
              <p:cNvSpPr txBox="1"/>
              <p:nvPr/>
            </p:nvSpPr>
            <p:spPr>
              <a:xfrm>
                <a:off x="4392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1">
                    <a:solidFill>
                      <a:srgbClr val="0070C0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tx1"/>
                    </a:solidFill>
                  </a:rPr>
                  <a:t>Research Background</a:t>
                </a: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TextBox 3"/>
              <p:cNvSpPr txBox="1"/>
              <p:nvPr/>
            </p:nvSpPr>
            <p:spPr>
              <a:xfrm>
                <a:off x="7128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Method Design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TextBox 4"/>
              <p:cNvSpPr txBox="1"/>
              <p:nvPr/>
            </p:nvSpPr>
            <p:spPr>
              <a:xfrm>
                <a:off x="9864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Experimental Validation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TextBox 5"/>
              <p:cNvSpPr txBox="1"/>
              <p:nvPr/>
            </p:nvSpPr>
            <p:spPr>
              <a:xfrm>
                <a:off x="12600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accent1">
                        <a:lumMod val="75000"/>
                      </a:schemeClr>
                    </a:solidFill>
                  </a:rPr>
                  <a:t>Error Analysis</a:t>
                </a:r>
                <a:endParaRPr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" name="TextBox 6"/>
              <p:cNvSpPr txBox="1"/>
              <p:nvPr/>
            </p:nvSpPr>
            <p:spPr>
              <a:xfrm>
                <a:off x="15336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Conclusion</a:t>
                </a:r>
              </a:p>
            </p:txBody>
          </p:sp>
          <p:cxnSp>
            <p:nvCxnSpPr>
              <p:cNvPr id="26" name="Connector 7"/>
              <p:cNvCxnSpPr/>
              <p:nvPr/>
            </p:nvCxnSpPr>
            <p:spPr>
              <a:xfrm>
                <a:off x="792" y="1080"/>
                <a:ext cx="16704" cy="0"/>
              </a:xfrm>
              <a:prstGeom prst="line">
                <a:avLst/>
              </a:prstGeom>
              <a:ln w="10160">
                <a:solidFill>
                  <a:srgbClr val="E6EAE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7" name="图片 2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" y="191"/>
                <a:ext cx="2608" cy="897"/>
              </a:xfrm>
              <a:prstGeom prst="rect">
                <a:avLst/>
              </a:prstGeom>
            </p:spPr>
          </p:pic>
        </p:grpSp>
        <p:cxnSp>
          <p:nvCxnSpPr>
            <p:cNvPr id="28" name="Connector 5"/>
            <p:cNvCxnSpPr/>
            <p:nvPr/>
          </p:nvCxnSpPr>
          <p:spPr>
            <a:xfrm>
              <a:off x="12773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Remaining Corrected Errors</a:t>
            </a:r>
            <a:endParaRPr sz="30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10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216152"/>
            <a:ext cx="52120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 i="0">
                <a:solidFill>
                  <a:srgbClr val="12223F"/>
                </a:solidFill>
                <a:latin typeface="Aptos"/>
              </a:defRPr>
            </a:pPr>
            <a:r>
              <a:rPr sz="1200" b="1" i="0">
                <a:solidFill>
                  <a:srgbClr val="12223F"/>
                </a:solidFill>
                <a:latin typeface="Aptos"/>
              </a:rPr>
              <a:t>Relative share of remaining corrected errors</a:t>
            </a:r>
            <a:endParaRPr sz="12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536192"/>
            <a:ext cx="52120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121615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Date Computation</a:t>
            </a:r>
            <a:endParaRPr sz="9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94560" y="2011680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2011680"/>
            <a:ext cx="3154680" cy="155448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2392" y="2011426"/>
            <a:ext cx="594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305</a:t>
            </a:r>
            <a:endParaRPr sz="90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5256" y="2596896"/>
            <a:ext cx="121615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Time Zone Conversion</a:t>
            </a:r>
            <a:endParaRPr sz="9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94560" y="2651760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2651760"/>
            <a:ext cx="620592" cy="155448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7669" y="2651506"/>
            <a:ext cx="594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60</a:t>
            </a:r>
            <a:endParaRPr sz="90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5256" y="3236976"/>
            <a:ext cx="121615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Hour24</a:t>
            </a:r>
            <a:endParaRPr sz="9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194560" y="3291840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4560" y="3291840"/>
            <a:ext cx="113775" cy="155448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1487" y="3277616"/>
            <a:ext cx="594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11</a:t>
            </a:r>
            <a:endParaRPr sz="90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46520" y="1508760"/>
            <a:ext cx="2240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1691639"/>
            <a:ext cx="191109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A63636"/>
                </a:solidFill>
                <a:latin typeface="Aptos"/>
              </a:defRPr>
            </a:pPr>
            <a:r>
              <a:rPr sz="2800" b="1" i="0">
                <a:solidFill>
                  <a:srgbClr val="A63636"/>
                </a:solidFill>
                <a:latin typeface="Aptos"/>
              </a:rPr>
              <a:t>376</a:t>
            </a:r>
            <a:endParaRPr sz="2800" b="1" i="0">
              <a:solidFill>
                <a:srgbClr val="A6363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6050" y="2244090"/>
            <a:ext cx="2169160" cy="212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Total remaining corrected errors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6840" y="1508760"/>
            <a:ext cx="2240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1691639"/>
            <a:ext cx="191109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A63636"/>
                </a:solidFill>
                <a:latin typeface="Aptos"/>
              </a:defRPr>
            </a:pPr>
            <a:r>
              <a:rPr sz="2800" b="1" i="0">
                <a:solidFill>
                  <a:srgbClr val="A63636"/>
                </a:solidFill>
                <a:latin typeface="Aptos"/>
              </a:rPr>
              <a:t>305</a:t>
            </a:r>
            <a:endParaRPr sz="2800" b="1" i="0">
              <a:solidFill>
                <a:srgbClr val="A63636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71432" y="2286000"/>
            <a:ext cx="1911096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Date Computation errors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46520" y="2788920"/>
            <a:ext cx="2240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2971800"/>
            <a:ext cx="191109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275388"/>
                </a:solidFill>
                <a:latin typeface="Aptos"/>
              </a:defRPr>
            </a:pPr>
            <a:r>
              <a:rPr sz="2800" b="1" i="0">
                <a:solidFill>
                  <a:srgbClr val="275388"/>
                </a:solidFill>
                <a:latin typeface="Aptos"/>
              </a:rPr>
              <a:t>60</a:t>
            </a:r>
            <a:endParaRPr sz="2800" b="1" i="0">
              <a:solidFill>
                <a:srgbClr val="275388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02095" y="3551555"/>
            <a:ext cx="2054225" cy="212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Time Zone Conversion errors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006840" y="2788920"/>
            <a:ext cx="2240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71432" y="2971800"/>
            <a:ext cx="1911096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 i="0">
                <a:solidFill>
                  <a:srgbClr val="CA9B3C"/>
                </a:solidFill>
                <a:latin typeface="Aptos"/>
              </a:defRPr>
            </a:pPr>
            <a:r>
              <a:rPr sz="2800" b="1" i="0">
                <a:solidFill>
                  <a:srgbClr val="CA9B3C"/>
                </a:solidFill>
                <a:latin typeface="Aptos"/>
              </a:rPr>
              <a:t>11</a:t>
            </a:r>
            <a:endParaRPr sz="2800" b="1" i="0">
              <a:solidFill>
                <a:srgbClr val="CA9B3C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71432" y="3551555"/>
            <a:ext cx="1911096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Hour24 errors</a:t>
            </a:r>
            <a:endParaRPr sz="11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1248" y="4617720"/>
            <a:ext cx="640080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Date Computation is the dominant post-normalization bottleneck.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TZ errors cluster around one-hour offsets and minute mismatches.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Hour24 failures indicate carry/borrow state inconsistency.</a:t>
            </a:r>
          </a:p>
        </p:txBody>
      </p:sp>
      <p:sp>
        <p:nvSpPr>
          <p:cNvPr id="39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grpSp>
          <p:nvGrpSpPr>
            <p:cNvPr id="66" name="组合 65"/>
            <p:cNvGrpSpPr/>
            <p:nvPr/>
          </p:nvGrpSpPr>
          <p:grpSpPr>
            <a:xfrm rot="0">
              <a:off x="792" y="191"/>
              <a:ext cx="16920" cy="897"/>
              <a:chOff x="792" y="191"/>
              <a:chExt cx="16920" cy="897"/>
            </a:xfrm>
          </p:grpSpPr>
          <p:sp>
            <p:nvSpPr>
              <p:cNvPr id="67" name="TextBox 1"/>
              <p:cNvSpPr txBox="1"/>
              <p:nvPr/>
            </p:nvSpPr>
            <p:spPr>
              <a:xfrm>
                <a:off x="4392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1">
                    <a:solidFill>
                      <a:srgbClr val="0070C0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tx1"/>
                    </a:solidFill>
                  </a:rPr>
                  <a:t>Research Background</a:t>
                </a: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TextBox 3"/>
              <p:cNvSpPr txBox="1"/>
              <p:nvPr/>
            </p:nvSpPr>
            <p:spPr>
              <a:xfrm>
                <a:off x="7128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Method Design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TextBox 4"/>
              <p:cNvSpPr txBox="1"/>
              <p:nvPr/>
            </p:nvSpPr>
            <p:spPr>
              <a:xfrm>
                <a:off x="9864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Experimental Validation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TextBox 5"/>
              <p:cNvSpPr txBox="1"/>
              <p:nvPr/>
            </p:nvSpPr>
            <p:spPr>
              <a:xfrm>
                <a:off x="12600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accent1">
                        <a:lumMod val="75000"/>
                      </a:schemeClr>
                    </a:solidFill>
                  </a:rPr>
                  <a:t>Error Analysis</a:t>
                </a:r>
                <a:endParaRPr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" name="TextBox 6"/>
              <p:cNvSpPr txBox="1"/>
              <p:nvPr/>
            </p:nvSpPr>
            <p:spPr>
              <a:xfrm>
                <a:off x="15336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Conclusion</a:t>
                </a:r>
              </a:p>
            </p:txBody>
          </p:sp>
          <p:cxnSp>
            <p:nvCxnSpPr>
              <p:cNvPr id="72" name="Connector 7"/>
              <p:cNvCxnSpPr/>
              <p:nvPr/>
            </p:nvCxnSpPr>
            <p:spPr>
              <a:xfrm>
                <a:off x="792" y="1080"/>
                <a:ext cx="16704" cy="0"/>
              </a:xfrm>
              <a:prstGeom prst="line">
                <a:avLst/>
              </a:prstGeom>
              <a:ln w="10160">
                <a:solidFill>
                  <a:srgbClr val="E6EAE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3" name="图片 72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" y="191"/>
                <a:ext cx="2608" cy="897"/>
              </a:xfrm>
              <a:prstGeom prst="rect">
                <a:avLst/>
              </a:prstGeom>
            </p:spPr>
          </p:pic>
        </p:grpSp>
        <p:cxnSp>
          <p:nvCxnSpPr>
            <p:cNvPr id="41" name="Connector 5"/>
            <p:cNvCxnSpPr/>
            <p:nvPr/>
          </p:nvCxnSpPr>
          <p:spPr>
            <a:xfrm>
              <a:off x="12773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10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170" y="685800"/>
            <a:ext cx="7459345" cy="3674110"/>
          </a:xfrm>
          <a:prstGeom prst="rect">
            <a:avLst/>
          </a:prstGeom>
        </p:spPr>
      </p:pic>
      <p:pic>
        <p:nvPicPr>
          <p:cNvPr id="3" name="图片 2" descr="S10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45" y="1353820"/>
            <a:ext cx="7700010" cy="3763010"/>
          </a:xfrm>
          <a:prstGeom prst="rect">
            <a:avLst/>
          </a:prstGeom>
        </p:spPr>
      </p:pic>
      <p:pic>
        <p:nvPicPr>
          <p:cNvPr id="4" name="图片 3" descr="S10-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445" y="2399030"/>
            <a:ext cx="7672705" cy="373570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502920" y="121285"/>
            <a:ext cx="10744200" cy="568960"/>
            <a:chOff x="792" y="191"/>
            <a:chExt cx="16920" cy="896"/>
          </a:xfrm>
        </p:grpSpPr>
        <p:grpSp>
          <p:nvGrpSpPr>
            <p:cNvPr id="66" name="组合 65"/>
            <p:cNvGrpSpPr/>
            <p:nvPr/>
          </p:nvGrpSpPr>
          <p:grpSpPr>
            <a:xfrm rot="0">
              <a:off x="792" y="191"/>
              <a:ext cx="16920" cy="897"/>
              <a:chOff x="792" y="191"/>
              <a:chExt cx="16920" cy="897"/>
            </a:xfrm>
          </p:grpSpPr>
          <p:sp>
            <p:nvSpPr>
              <p:cNvPr id="67" name="TextBox 1"/>
              <p:cNvSpPr txBox="1"/>
              <p:nvPr/>
            </p:nvSpPr>
            <p:spPr>
              <a:xfrm>
                <a:off x="4392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1">
                    <a:solidFill>
                      <a:srgbClr val="0070C0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tx1"/>
                    </a:solidFill>
                  </a:rPr>
                  <a:t>Research Background</a:t>
                </a: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TextBox 3"/>
              <p:cNvSpPr txBox="1"/>
              <p:nvPr/>
            </p:nvSpPr>
            <p:spPr>
              <a:xfrm>
                <a:off x="7128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Method Design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TextBox 4"/>
              <p:cNvSpPr txBox="1"/>
              <p:nvPr/>
            </p:nvSpPr>
            <p:spPr>
              <a:xfrm>
                <a:off x="9864" y="472"/>
                <a:ext cx="2376" cy="2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 b="1">
                    <a:solidFill>
                      <a:schemeClr val="tx1"/>
                    </a:solidFill>
                  </a:rPr>
                  <a:t>Experimental Validation</a:t>
                </a:r>
                <a:endParaRPr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TextBox 5"/>
              <p:cNvSpPr txBox="1"/>
              <p:nvPr/>
            </p:nvSpPr>
            <p:spPr>
              <a:xfrm>
                <a:off x="12600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rPr>
                    <a:solidFill>
                      <a:schemeClr val="accent1">
                        <a:lumMod val="75000"/>
                      </a:schemeClr>
                    </a:solidFill>
                  </a:rPr>
                  <a:t>Error Analysis</a:t>
                </a:r>
                <a:endParaRPr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" name="TextBox 6"/>
              <p:cNvSpPr txBox="1"/>
              <p:nvPr/>
            </p:nvSpPr>
            <p:spPr>
              <a:xfrm>
                <a:off x="15336" y="346"/>
                <a:ext cx="2376" cy="504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>
                  <a:defRPr sz="820" b="0">
                    <a:solidFill>
                      <a:srgbClr val="5A5A5A"/>
                    </a:solidFill>
                    <a:latin typeface="Arial" panose="020B0604020202020204"/>
                  </a:defRPr>
                </a:pPr>
                <a:r>
                  <a:t>Conclusion</a:t>
                </a:r>
              </a:p>
            </p:txBody>
          </p:sp>
          <p:cxnSp>
            <p:nvCxnSpPr>
              <p:cNvPr id="72" name="Connector 7"/>
              <p:cNvCxnSpPr/>
              <p:nvPr/>
            </p:nvCxnSpPr>
            <p:spPr>
              <a:xfrm>
                <a:off x="792" y="1080"/>
                <a:ext cx="16704" cy="0"/>
              </a:xfrm>
              <a:prstGeom prst="line">
                <a:avLst/>
              </a:prstGeom>
              <a:ln w="10160">
                <a:solidFill>
                  <a:srgbClr val="E6EAE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3" name="图片 7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" y="191"/>
                <a:ext cx="2608" cy="897"/>
              </a:xfrm>
              <a:prstGeom prst="rect">
                <a:avLst/>
              </a:prstGeom>
            </p:spPr>
          </p:pic>
        </p:grpSp>
        <p:cxnSp>
          <p:nvCxnSpPr>
            <p:cNvPr id="17" name="Connector 5"/>
            <p:cNvCxnSpPr/>
            <p:nvPr/>
          </p:nvCxnSpPr>
          <p:spPr>
            <a:xfrm>
              <a:off x="12773" y="893"/>
              <a:ext cx="2030" cy="0"/>
            </a:xfrm>
            <a:prstGeom prst="line">
              <a:avLst/>
            </a:prstGeom>
            <a:ln w="2794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028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Why Fallback Helps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11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449070"/>
            <a:ext cx="55778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200" b="1" i="0">
                <a:solidFill>
                  <a:srgbClr val="12223F"/>
                </a:solidFill>
                <a:latin typeface="Aptos"/>
              </a:defRPr>
            </a:pPr>
            <a:r>
              <a:rPr sz="2200" b="1" i="0">
                <a:solidFill>
                  <a:srgbClr val="12223F"/>
                </a:solidFill>
                <a:latin typeface="Aptos"/>
              </a:rPr>
              <a:t>Fallback as selective risk control</a:t>
            </a:r>
            <a:endParaRPr sz="22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012315"/>
            <a:ext cx="5669280" cy="2148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The maximum predicted class probability is used as a confidence score.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When confidence is low, the system avoids a potentially harmful category-specific prompt.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This mechanism improves robustness without adding additional LLM calls.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The empirical pattern is consistent with the broader selective prediction framing.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617720"/>
            <a:ext cx="4983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4864608"/>
            <a:ext cx="1965960" cy="29260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937760"/>
            <a:ext cx="1874519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</a:rPr>
              <a:t>High confidence → route</a:t>
            </a:r>
            <a:endParaRPr sz="10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2011680" cy="292608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937760"/>
            <a:ext cx="192024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</a:rPr>
              <a:t>Low confidence → fallback</a:t>
            </a:r>
            <a:endParaRPr sz="105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2" name="图片 21" descr="G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28775"/>
            <a:ext cx="5879465" cy="3308985"/>
          </a:xfrm>
          <a:prstGeom prst="rect">
            <a:avLst/>
          </a:prstGeom>
        </p:spPr>
      </p:pic>
      <p:sp>
        <p:nvSpPr>
          <p:cNvPr id="23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 rot="0">
            <a:off x="502920" y="121285"/>
            <a:ext cx="10744200" cy="569595"/>
            <a:chOff x="792" y="191"/>
            <a:chExt cx="16920" cy="897"/>
          </a:xfrm>
        </p:grpSpPr>
        <p:sp>
          <p:nvSpPr>
            <p:cNvPr id="28" name="TextBox 1"/>
            <p:cNvSpPr txBox="1"/>
            <p:nvPr/>
          </p:nvSpPr>
          <p:spPr>
            <a:xfrm>
              <a:off x="4392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1">
                  <a:solidFill>
                    <a:srgbClr val="0070C0"/>
                  </a:solidFill>
                  <a:latin typeface="Arial" panose="020B0604020202020204"/>
                </a:defRPr>
              </a:pPr>
              <a:r>
                <a:rPr>
                  <a:solidFill>
                    <a:schemeClr val="tx1"/>
                  </a:solidFill>
                </a:rPr>
                <a:t>Research Background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9" name="TextBox 3"/>
            <p:cNvSpPr txBox="1"/>
            <p:nvPr/>
          </p:nvSpPr>
          <p:spPr>
            <a:xfrm>
              <a:off x="7128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Method Design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0" name="TextBox 4"/>
            <p:cNvSpPr txBox="1"/>
            <p:nvPr/>
          </p:nvSpPr>
          <p:spPr>
            <a:xfrm>
              <a:off x="9864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Experimental Validation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1" name="TextBox 5"/>
            <p:cNvSpPr txBox="1"/>
            <p:nvPr/>
          </p:nvSpPr>
          <p:spPr>
            <a:xfrm>
              <a:off x="12600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Error Analysis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2" name="TextBox 6"/>
            <p:cNvSpPr txBox="1"/>
            <p:nvPr/>
          </p:nvSpPr>
          <p:spPr>
            <a:xfrm>
              <a:off x="15336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accent1">
                      <a:lumMod val="75000"/>
                    </a:schemeClr>
                  </a:solidFill>
                </a:rPr>
                <a:t>Conclusion</a:t>
              </a:r>
              <a:endParaRPr b="1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" name="Connector 7"/>
            <p:cNvCxnSpPr/>
            <p:nvPr/>
          </p:nvCxnSpPr>
          <p:spPr>
            <a:xfrm>
              <a:off x="792" y="1080"/>
              <a:ext cx="16704" cy="0"/>
            </a:xfrm>
            <a:prstGeom prst="line">
              <a:avLst/>
            </a:prstGeom>
            <a:ln w="10160">
              <a:solidFill>
                <a:srgbClr val="E6EA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" y="191"/>
              <a:ext cx="2608" cy="897"/>
            </a:xfrm>
            <a:prstGeom prst="rect">
              <a:avLst/>
            </a:prstGeom>
          </p:spPr>
        </p:pic>
      </p:grpSp>
      <p:cxnSp>
        <p:nvCxnSpPr>
          <p:cNvPr id="36" name="Connector 6"/>
          <p:cNvCxnSpPr/>
          <p:nvPr/>
        </p:nvCxnSpPr>
        <p:spPr>
          <a:xfrm>
            <a:off x="9848088" y="566928"/>
            <a:ext cx="1289304" cy="0"/>
          </a:xfrm>
          <a:prstGeom prst="line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028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Limitations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12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492240" cy="2453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Classifier training logs are incomplete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   – Macro-F1, final threshold tau, and final hyperparameters should be exported.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Evaluation uses a 400-question frozen slice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   – Wilson intervals are reported, but broader test evaluation would strengthen inference.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ruleset v1.1 is manually engineered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   – Its transferability to open-answer benchmarks remains limited.</a:t>
            </a:r>
          </a:p>
        </p:txBody>
      </p:sp>
      <p:pic>
        <p:nvPicPr>
          <p:cNvPr id="16" name="图片 15" descr="G12"/>
          <p:cNvPicPr>
            <a:picLocks noChangeAspect="1"/>
          </p:cNvPicPr>
          <p:nvPr/>
        </p:nvPicPr>
        <p:blipFill>
          <a:blip r:embed="rId1"/>
          <a:srcRect l="1265" t="5503" r="1943" b="6628"/>
          <a:stretch>
            <a:fillRect/>
          </a:stretch>
        </p:blipFill>
        <p:spPr>
          <a:xfrm>
            <a:off x="7390130" y="1631950"/>
            <a:ext cx="4079875" cy="2778125"/>
          </a:xfrm>
          <a:prstGeom prst="rect">
            <a:avLst/>
          </a:prstGeom>
        </p:spPr>
      </p:pic>
      <p:sp>
        <p:nvSpPr>
          <p:cNvPr id="17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 rot="0">
            <a:off x="502920" y="121285"/>
            <a:ext cx="10744200" cy="569595"/>
            <a:chOff x="792" y="191"/>
            <a:chExt cx="16920" cy="897"/>
          </a:xfrm>
        </p:grpSpPr>
        <p:sp>
          <p:nvSpPr>
            <p:cNvPr id="28" name="TextBox 1"/>
            <p:cNvSpPr txBox="1"/>
            <p:nvPr/>
          </p:nvSpPr>
          <p:spPr>
            <a:xfrm>
              <a:off x="4392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1">
                  <a:solidFill>
                    <a:srgbClr val="0070C0"/>
                  </a:solidFill>
                  <a:latin typeface="Arial" panose="020B0604020202020204"/>
                </a:defRPr>
              </a:pPr>
              <a:r>
                <a:rPr>
                  <a:solidFill>
                    <a:schemeClr val="tx1"/>
                  </a:solidFill>
                </a:rPr>
                <a:t>Research Background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9" name="TextBox 3"/>
            <p:cNvSpPr txBox="1"/>
            <p:nvPr/>
          </p:nvSpPr>
          <p:spPr>
            <a:xfrm>
              <a:off x="7128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Method Design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0" name="TextBox 4"/>
            <p:cNvSpPr txBox="1"/>
            <p:nvPr/>
          </p:nvSpPr>
          <p:spPr>
            <a:xfrm>
              <a:off x="9864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Experimental Validation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1" name="TextBox 5"/>
            <p:cNvSpPr txBox="1"/>
            <p:nvPr/>
          </p:nvSpPr>
          <p:spPr>
            <a:xfrm>
              <a:off x="12600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Error Analysis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2" name="TextBox 6"/>
            <p:cNvSpPr txBox="1"/>
            <p:nvPr/>
          </p:nvSpPr>
          <p:spPr>
            <a:xfrm>
              <a:off x="15336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accent1">
                      <a:lumMod val="75000"/>
                    </a:schemeClr>
                  </a:solidFill>
                </a:rPr>
                <a:t>Conclusion</a:t>
              </a:r>
              <a:endParaRPr b="1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" name="Connector 7"/>
            <p:cNvCxnSpPr/>
            <p:nvPr/>
          </p:nvCxnSpPr>
          <p:spPr>
            <a:xfrm>
              <a:off x="792" y="1080"/>
              <a:ext cx="16704" cy="0"/>
            </a:xfrm>
            <a:prstGeom prst="line">
              <a:avLst/>
            </a:prstGeom>
            <a:ln w="10160">
              <a:solidFill>
                <a:srgbClr val="E6EA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" y="191"/>
              <a:ext cx="2608" cy="8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19328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Future Work: Follow the Corrected Error Surface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13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444752"/>
            <a:ext cx="10424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27632"/>
            <a:ext cx="28346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Date prompt bank</a:t>
            </a:r>
            <a:endParaRPr sz="17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4760" y="1627632"/>
            <a:ext cx="48463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50" b="0" i="0">
                <a:solidFill>
                  <a:srgbClr val="374151"/>
                </a:solidFill>
                <a:latin typeface="Aptos"/>
              </a:defRPr>
            </a:pPr>
            <a:r>
              <a:rPr sz="1450" b="0" i="0">
                <a:solidFill>
                  <a:srgbClr val="374151"/>
                </a:solidFill>
                <a:latin typeface="Aptos"/>
              </a:rPr>
              <a:t>Target cross-month/year steps, leap-year checks, and multi-field updates.</a:t>
            </a:r>
            <a:endParaRPr sz="14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89720" y="1709928"/>
            <a:ext cx="1417320" cy="301752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783080"/>
            <a:ext cx="13258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305 errors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2770632"/>
            <a:ext cx="10424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53512"/>
            <a:ext cx="28346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TZ directional constraints</a:t>
            </a:r>
            <a:endParaRPr sz="17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94760" y="2953512"/>
            <a:ext cx="48463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50" b="0" i="0">
                <a:solidFill>
                  <a:srgbClr val="374151"/>
                </a:solidFill>
                <a:latin typeface="Aptos"/>
              </a:defRPr>
            </a:pPr>
            <a:r>
              <a:rPr sz="1450" b="0" i="0">
                <a:solidFill>
                  <a:srgbClr val="374151"/>
                </a:solidFill>
                <a:latin typeface="Aptos"/>
              </a:rPr>
              <a:t>Make direction, UTC conversion, and half-hour offsets explicit.</a:t>
            </a:r>
            <a:endParaRPr sz="14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89720" y="3035808"/>
            <a:ext cx="1417320" cy="301752"/>
          </a:xfrm>
          <a:prstGeom prst="roundRect">
            <a:avLst/>
          </a:prstGeom>
          <a:solidFill>
            <a:srgbClr val="27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3108960"/>
            <a:ext cx="13258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60 errors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4096512"/>
            <a:ext cx="10424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79392"/>
            <a:ext cx="28346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Hour24 carry/borrow prompts</a:t>
            </a:r>
            <a:endParaRPr sz="17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94760" y="4279392"/>
            <a:ext cx="48463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50" b="0" i="0">
                <a:solidFill>
                  <a:srgbClr val="374151"/>
                </a:solidFill>
                <a:latin typeface="Aptos"/>
              </a:defRPr>
            </a:pPr>
            <a:r>
              <a:rPr sz="1450" b="0" i="0">
                <a:solidFill>
                  <a:srgbClr val="374151"/>
                </a:solidFill>
                <a:latin typeface="Aptos"/>
              </a:rPr>
              <a:t>Force minute-first calculation, then borrow/carry, then hour update.</a:t>
            </a:r>
            <a:endParaRPr sz="1450" b="0" i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89720" y="4361688"/>
            <a:ext cx="1417320" cy="301752"/>
          </a:xfrm>
          <a:prstGeom prst="roundRect">
            <a:avLst/>
          </a:prstGeom>
          <a:solidFill>
            <a:srgbClr val="CA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434840"/>
            <a:ext cx="13258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11 errors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36" name="组合 35"/>
          <p:cNvGrpSpPr/>
          <p:nvPr/>
        </p:nvGrpSpPr>
        <p:grpSpPr>
          <a:xfrm rot="0">
            <a:off x="502920" y="121285"/>
            <a:ext cx="10744200" cy="569595"/>
            <a:chOff x="792" y="191"/>
            <a:chExt cx="16920" cy="897"/>
          </a:xfrm>
        </p:grpSpPr>
        <p:sp>
          <p:nvSpPr>
            <p:cNvPr id="37" name="TextBox 1"/>
            <p:cNvSpPr txBox="1"/>
            <p:nvPr/>
          </p:nvSpPr>
          <p:spPr>
            <a:xfrm>
              <a:off x="4392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1">
                  <a:solidFill>
                    <a:srgbClr val="0070C0"/>
                  </a:solidFill>
                  <a:latin typeface="Arial" panose="020B0604020202020204"/>
                </a:defRPr>
              </a:pPr>
              <a:r>
                <a:rPr>
                  <a:solidFill>
                    <a:schemeClr val="tx1"/>
                  </a:solidFill>
                </a:rPr>
                <a:t>Research Background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38" name="TextBox 3"/>
            <p:cNvSpPr txBox="1"/>
            <p:nvPr/>
          </p:nvSpPr>
          <p:spPr>
            <a:xfrm>
              <a:off x="7128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Method Design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9" name="TextBox 4"/>
            <p:cNvSpPr txBox="1"/>
            <p:nvPr/>
          </p:nvSpPr>
          <p:spPr>
            <a:xfrm>
              <a:off x="9864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Experimental Validation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40" name="TextBox 5"/>
            <p:cNvSpPr txBox="1"/>
            <p:nvPr/>
          </p:nvSpPr>
          <p:spPr>
            <a:xfrm>
              <a:off x="12600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Error Analysis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41" name="TextBox 6"/>
            <p:cNvSpPr txBox="1"/>
            <p:nvPr/>
          </p:nvSpPr>
          <p:spPr>
            <a:xfrm>
              <a:off x="15336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accent1">
                      <a:lumMod val="75000"/>
                    </a:schemeClr>
                  </a:solidFill>
                </a:rPr>
                <a:t>Conclusion</a:t>
              </a:r>
              <a:endParaRPr b="1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42" name="Connector 7"/>
            <p:cNvCxnSpPr/>
            <p:nvPr/>
          </p:nvCxnSpPr>
          <p:spPr>
            <a:xfrm>
              <a:off x="792" y="1080"/>
              <a:ext cx="16704" cy="0"/>
            </a:xfrm>
            <a:prstGeom prst="line">
              <a:avLst/>
            </a:prstGeom>
            <a:ln w="10160">
              <a:solidFill>
                <a:srgbClr val="E6EA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" y="191"/>
              <a:ext cx="2608" cy="8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740283"/>
            <a:ext cx="10881360" cy="4660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2800" b="1" i="0">
                <a:solidFill>
                  <a:srgbClr val="12223F"/>
                </a:solidFill>
                <a:latin typeface="Aptos"/>
              </a:rPr>
              <a:t>Conclusion</a:t>
            </a:r>
            <a:endParaRPr sz="28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14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3657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200" b="1" i="0">
                <a:solidFill>
                  <a:srgbClr val="12223F"/>
                </a:solidFill>
                <a:latin typeface="Aptos"/>
              </a:defRPr>
            </a:pPr>
            <a:r>
              <a:rPr sz="2200" b="1" i="0">
                <a:solidFill>
                  <a:srgbClr val="12223F"/>
                </a:solidFill>
                <a:latin typeface="Aptos"/>
              </a:rPr>
              <a:t>Three takeaways</a:t>
            </a:r>
            <a:endParaRPr sz="22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6537960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374151"/>
                </a:solidFill>
                <a:latin typeface="Aptos"/>
              </a:defRPr>
            </a:pPr>
            <a:r>
              <a:t>• Complex temporal reasoning is heterogeneous enough to justify classifier-driven prompt routing.</a:t>
            </a:r>
          </a:p>
          <a:p>
            <a:pPr>
              <a:spcAft>
                <a:spcPts val="700"/>
              </a:spcAft>
              <a:defRPr sz="1800" b="0">
                <a:solidFill>
                  <a:srgbClr val="374151"/>
                </a:solidFill>
                <a:latin typeface="Aptos"/>
              </a:defRPr>
            </a:pPr>
            <a:r>
              <a:t>• Under ruleset v1.1, Router + Fallback is the strongest observed workflow with no extra LLM call count.</a:t>
            </a:r>
          </a:p>
          <a:p>
            <a:pPr>
              <a:spcAft>
                <a:spcPts val="700"/>
              </a:spcAft>
              <a:defRPr sz="1800" b="0">
                <a:solidFill>
                  <a:srgbClr val="374151"/>
                </a:solidFill>
                <a:latin typeface="Aptos"/>
              </a:defRPr>
            </a:pPr>
            <a:r>
              <a:t>• After format artifacts are removed, the research agenda becomes clearer: Date, TZ, and Hour24 are the main structural bottlenecks.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7985125" y="2624455"/>
            <a:ext cx="3399155" cy="1472565"/>
            <a:chOff x="12575" y="2837"/>
            <a:chExt cx="5353" cy="2319"/>
          </a:xfrm>
        </p:grpSpPr>
        <p:sp>
          <p:nvSpPr>
            <p:cNvPr id="11" name="Rounded Rectangle 10"/>
            <p:cNvSpPr/>
            <p:nvPr/>
          </p:nvSpPr>
          <p:spPr>
            <a:xfrm>
              <a:off x="12575" y="2837"/>
              <a:ext cx="5353" cy="2319"/>
            </a:xfrm>
            <a:prstGeom prst="roundRect">
              <a:avLst/>
            </a:prstGeom>
            <a:solidFill>
              <a:srgbClr val="E2E8ED"/>
            </a:solidFill>
            <a:ln w="12700">
              <a:solidFill>
                <a:srgbClr val="2B8C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801" y="3096"/>
              <a:ext cx="5127" cy="2059"/>
            </a:xfrm>
            <a:prstGeom prst="rect">
              <a:avLst/>
            </a:prstGeom>
            <a:noFill/>
          </p:spPr>
          <p:txBody>
            <a:bodyPr wrap="square" lIns="27432" tIns="18288" rIns="27432" bIns="18288">
              <a:noAutofit/>
            </a:bodyPr>
            <a:lstStyle/>
            <a:p>
              <a:pPr>
                <a:defRPr sz="1550" b="1" i="0">
                  <a:solidFill>
                    <a:srgbClr val="12223F"/>
                  </a:solidFill>
                  <a:latin typeface="Aptos"/>
                </a:defRPr>
              </a:pPr>
              <a:r>
                <a:rPr sz="1550" b="1" i="0">
                  <a:solidFill>
                    <a:srgbClr val="12223F"/>
                  </a:solidFill>
                  <a:latin typeface="Aptos"/>
                </a:rPr>
                <a:t>Core message: this work is not only a routing method, but also a cleaner measurement framework for temporal reasoning.</a:t>
              </a:r>
              <a:endParaRPr sz="1550" b="1" i="0">
                <a:solidFill>
                  <a:srgbClr val="12223F"/>
                </a:solidFill>
                <a:latin typeface="Aptos"/>
              </a:endParaRPr>
            </a:p>
          </p:txBody>
        </p:sp>
      </p:grpSp>
      <p:pic>
        <p:nvPicPr>
          <p:cNvPr id="19" name="图片 18" descr="S14"/>
          <p:cNvPicPr>
            <a:picLocks noChangeAspect="1"/>
          </p:cNvPicPr>
          <p:nvPr/>
        </p:nvPicPr>
        <p:blipFill>
          <a:blip r:embed="rId1"/>
          <a:srcRect r="11048"/>
          <a:stretch>
            <a:fillRect/>
          </a:stretch>
        </p:blipFill>
        <p:spPr>
          <a:xfrm>
            <a:off x="777240" y="4275455"/>
            <a:ext cx="6062345" cy="2019300"/>
          </a:xfrm>
          <a:prstGeom prst="rect">
            <a:avLst/>
          </a:prstGeom>
        </p:spPr>
      </p:pic>
      <p:sp>
        <p:nvSpPr>
          <p:cNvPr id="22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 rot="0">
            <a:off x="502920" y="121285"/>
            <a:ext cx="10744200" cy="569595"/>
            <a:chOff x="792" y="191"/>
            <a:chExt cx="16920" cy="897"/>
          </a:xfrm>
        </p:grpSpPr>
        <p:sp>
          <p:nvSpPr>
            <p:cNvPr id="28" name="TextBox 1"/>
            <p:cNvSpPr txBox="1"/>
            <p:nvPr/>
          </p:nvSpPr>
          <p:spPr>
            <a:xfrm>
              <a:off x="4392" y="346"/>
              <a:ext cx="2376" cy="504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1">
                  <a:solidFill>
                    <a:srgbClr val="0070C0"/>
                  </a:solidFill>
                  <a:latin typeface="Arial" panose="020B0604020202020204"/>
                </a:defRPr>
              </a:pPr>
              <a:r>
                <a:rPr>
                  <a:solidFill>
                    <a:schemeClr val="tx1"/>
                  </a:solidFill>
                </a:rPr>
                <a:t>Research Background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9" name="TextBox 3"/>
            <p:cNvSpPr txBox="1"/>
            <p:nvPr/>
          </p:nvSpPr>
          <p:spPr>
            <a:xfrm>
              <a:off x="7128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Method Design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0" name="TextBox 4"/>
            <p:cNvSpPr txBox="1"/>
            <p:nvPr/>
          </p:nvSpPr>
          <p:spPr>
            <a:xfrm>
              <a:off x="9864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Experimental Validation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1" name="TextBox 5"/>
            <p:cNvSpPr txBox="1"/>
            <p:nvPr/>
          </p:nvSpPr>
          <p:spPr>
            <a:xfrm>
              <a:off x="12600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tx1"/>
                  </a:solidFill>
                </a:rPr>
                <a:t>Error Analysis</a:t>
              </a:r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2" name="TextBox 6"/>
            <p:cNvSpPr txBox="1"/>
            <p:nvPr/>
          </p:nvSpPr>
          <p:spPr>
            <a:xfrm>
              <a:off x="15336" y="472"/>
              <a:ext cx="2376" cy="253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20" b="0">
                  <a:solidFill>
                    <a:srgbClr val="5A5A5A"/>
                  </a:solidFill>
                  <a:latin typeface="Arial" panose="020B0604020202020204"/>
                </a:defRPr>
              </a:pPr>
              <a:r>
                <a:rPr b="1">
                  <a:solidFill>
                    <a:schemeClr val="accent1">
                      <a:lumMod val="75000"/>
                    </a:schemeClr>
                  </a:solidFill>
                </a:rPr>
                <a:t>Conclusion</a:t>
              </a:r>
              <a:endParaRPr b="1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" name="Connector 7"/>
            <p:cNvCxnSpPr/>
            <p:nvPr/>
          </p:nvCxnSpPr>
          <p:spPr>
            <a:xfrm>
              <a:off x="792" y="1080"/>
              <a:ext cx="16704" cy="0"/>
            </a:xfrm>
            <a:prstGeom prst="line">
              <a:avLst/>
            </a:prstGeom>
            <a:ln w="10160">
              <a:solidFill>
                <a:srgbClr val="E6EA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" y="191"/>
              <a:ext cx="2608" cy="8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REFERENCES</a:t>
            </a:r>
            <a:endParaRPr sz="950" b="1" i="0">
              <a:solidFill>
                <a:srgbClr val="2B8C8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Selected References</a:t>
            </a:r>
            <a:endParaRPr sz="3000" b="1" i="0">
              <a:solidFill>
                <a:srgbClr val="12223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15</a:t>
            </a:r>
            <a:endParaRPr sz="8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  <a:endParaRPr sz="750" b="0" i="0">
              <a:solidFill>
                <a:srgbClr val="68748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607040" cy="4023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Wang, Y. &amp; Zhao, Y. (2024). TRAM: Benchmarking Temporal Reasoning for Large Language Models.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Chu, Z. et al. (2024). TIMEBENCH: A Comprehensive Evaluation of Temporal Reasoning Abilities in LLMs.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Wei, J. et al. (2022). Chain-of-Thought Prompting Elicits Reasoning in Large Language Models.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Kojima, T. et al. (2022). Large Language Models are Zero-Shot Reasoners.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Geifman, Y. &amp; El-Yaniv, R. (2017). Selective Classification for Deep Neural Networks.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Guo, C. et al. (2017). On Calibration of Modern Neural Networks.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Manning, C. D., Raghavan, P. &amp; Schütze, H. (2008). Introduction to Information Retrieval.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Fan, R.-E. et al. (2008). LIBLINEAR: A Library for Large Linear Classification.</a:t>
            </a:r>
          </a:p>
        </p:txBody>
      </p:sp>
      <p:sp>
        <p:nvSpPr>
          <p:cNvPr id="12" name="Rectangle 5"/>
          <p:cNvSpPr/>
          <p:nvPr/>
        </p:nvSpPr>
        <p:spPr>
          <a:xfrm>
            <a:off x="658368" y="1256157"/>
            <a:ext cx="132588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2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3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4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5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6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7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8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9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0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1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2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3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4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5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6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7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8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19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20.xml><?xml version="1.0" encoding="utf-8"?>
<p:tagLst xmlns:p="http://schemas.openxmlformats.org/presentationml/2006/main">
  <p:tag name="KSO_WM_DIAGRAM_VIRTUALLY_FRAME" val="{&quot;height&quot;:145.34475,&quot;left&quot;:92.64793749999998,&quot;top&quot;:167.10600000000002,&quot;width&quot;:807.6089375}"/>
</p:tagLst>
</file>

<file path=ppt/tags/tag21.xml><?xml version="1.0" encoding="utf-8"?>
<p:tagLst xmlns:p="http://schemas.openxmlformats.org/presentationml/2006/main">
  <p:tag name="TABLE_ENDDRAG_ORIGIN_RECT" val="596*151"/>
  <p:tag name="TABLE_ENDDRAG_RECT" val="39*131*596*15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9177</Words>
  <Application>WPS 演示</Application>
  <PresentationFormat>On-screen Show (4:3)</PresentationFormat>
  <Paragraphs>554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</vt:lpstr>
      <vt:lpstr>Aptos</vt:lpstr>
      <vt:lpstr>Segoe UI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は何ですか</cp:lastModifiedBy>
  <cp:revision>7</cp:revision>
  <dcterms:created xsi:type="dcterms:W3CDTF">2013-01-27T09:14:00Z</dcterms:created>
  <dcterms:modified xsi:type="dcterms:W3CDTF">2026-04-28T05:34:30Z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C494789C4728442D8056CAD9542D9846_12</vt:lpwstr>
  </property>
</Properties>
</file>